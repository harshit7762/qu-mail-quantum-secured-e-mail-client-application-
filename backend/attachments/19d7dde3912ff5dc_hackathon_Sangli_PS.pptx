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8" r:id="rId2"/>
    <p:sldId id="299" r:id="rId3"/>
    <p:sldId id="297" r:id="rId4"/>
    <p:sldId id="281" r:id="rId5"/>
    <p:sldId id="290" r:id="rId6"/>
    <p:sldId id="294" r:id="rId7"/>
    <p:sldId id="296"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D29D3C-D3AB-463B-A0B3-D8E10A75285A}" v="20" dt="2025-09-25T14:45:08.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902" autoAdjust="0"/>
  </p:normalViewPr>
  <p:slideViewPr>
    <p:cSldViewPr snapToGrid="0" snapToObjects="1">
      <p:cViewPr varScale="1">
        <p:scale>
          <a:sx n="78" d="100"/>
          <a:sy n="78" d="100"/>
        </p:scale>
        <p:origin x="715" y="67"/>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 mishra" userId="b42b32ded276d5d8" providerId="LiveId" clId="{F4F8423F-A5D7-4C37-A36F-31D798F1BAAA}"/>
    <pc:docChg chg="custSel addSld modSld">
      <pc:chgData name="harshit mishra" userId="b42b32ded276d5d8" providerId="LiveId" clId="{F4F8423F-A5D7-4C37-A36F-31D798F1BAAA}" dt="2025-09-25T14:53:06.074" v="97" actId="1076"/>
      <pc:docMkLst>
        <pc:docMk/>
      </pc:docMkLst>
      <pc:sldChg chg="addSp delSp modSp mod">
        <pc:chgData name="harshit mishra" userId="b42b32ded276d5d8" providerId="LiveId" clId="{F4F8423F-A5D7-4C37-A36F-31D798F1BAAA}" dt="2025-09-25T14:53:06.074" v="97" actId="1076"/>
        <pc:sldMkLst>
          <pc:docMk/>
          <pc:sldMk cId="3560011104" sldId="298"/>
        </pc:sldMkLst>
        <pc:spChg chg="del mod">
          <ac:chgData name="harshit mishra" userId="b42b32ded276d5d8" providerId="LiveId" clId="{F4F8423F-A5D7-4C37-A36F-31D798F1BAAA}" dt="2025-09-25T14:40:56.664" v="33" actId="478"/>
          <ac:spMkLst>
            <pc:docMk/>
            <pc:sldMk cId="3560011104" sldId="298"/>
            <ac:spMk id="3" creationId="{0FEEE4EC-1AEC-DFD7-6CBF-E53BDC7E9BED}"/>
          </ac:spMkLst>
        </pc:spChg>
        <pc:spChg chg="add del">
          <ac:chgData name="harshit mishra" userId="b42b32ded276d5d8" providerId="LiveId" clId="{F4F8423F-A5D7-4C37-A36F-31D798F1BAAA}" dt="2025-09-25T14:36:39.572" v="16" actId="478"/>
          <ac:spMkLst>
            <pc:docMk/>
            <pc:sldMk cId="3560011104" sldId="298"/>
            <ac:spMk id="8" creationId="{1579D2F4-2A3F-CAFC-528C-10032CEE2548}"/>
          </ac:spMkLst>
        </pc:spChg>
        <pc:spChg chg="add del mod">
          <ac:chgData name="harshit mishra" userId="b42b32ded276d5d8" providerId="LiveId" clId="{F4F8423F-A5D7-4C37-A36F-31D798F1BAAA}" dt="2025-09-25T14:38:55.825" v="21"/>
          <ac:spMkLst>
            <pc:docMk/>
            <pc:sldMk cId="3560011104" sldId="298"/>
            <ac:spMk id="9" creationId="{DF9BBFAB-BD4C-977C-7BB8-84E7DBF5F958}"/>
          </ac:spMkLst>
        </pc:spChg>
        <pc:spChg chg="add mod">
          <ac:chgData name="harshit mishra" userId="b42b32ded276d5d8" providerId="LiveId" clId="{F4F8423F-A5D7-4C37-A36F-31D798F1BAAA}" dt="2025-09-25T14:53:06.074" v="97" actId="1076"/>
          <ac:spMkLst>
            <pc:docMk/>
            <pc:sldMk cId="3560011104" sldId="298"/>
            <ac:spMk id="12" creationId="{527BC5FD-F597-DB4F-B8E9-52C3BD42CAD5}"/>
          </ac:spMkLst>
        </pc:spChg>
        <pc:picChg chg="mod">
          <ac:chgData name="harshit mishra" userId="b42b32ded276d5d8" providerId="LiveId" clId="{F4F8423F-A5D7-4C37-A36F-31D798F1BAAA}" dt="2025-09-25T14:35:24.070" v="10" actId="1076"/>
          <ac:picMkLst>
            <pc:docMk/>
            <pc:sldMk cId="3560011104" sldId="298"/>
            <ac:picMk id="4" creationId="{3E954884-0690-A2CF-6F09-FF204D1C93DE}"/>
          </ac:picMkLst>
        </pc:picChg>
        <pc:picChg chg="add mod modCrop">
          <ac:chgData name="harshit mishra" userId="b42b32ded276d5d8" providerId="LiveId" clId="{F4F8423F-A5D7-4C37-A36F-31D798F1BAAA}" dt="2025-09-25T14:43:26.985" v="56" actId="1076"/>
          <ac:picMkLst>
            <pc:docMk/>
            <pc:sldMk cId="3560011104" sldId="298"/>
            <ac:picMk id="7" creationId="{858EDF60-3F5B-158A-8D84-881CD53C5339}"/>
          </ac:picMkLst>
        </pc:picChg>
        <pc:picChg chg="add mod modCrop">
          <ac:chgData name="harshit mishra" userId="b42b32ded276d5d8" providerId="LiveId" clId="{F4F8423F-A5D7-4C37-A36F-31D798F1BAAA}" dt="2025-09-25T14:52:52.209" v="96" actId="1076"/>
          <ac:picMkLst>
            <pc:docMk/>
            <pc:sldMk cId="3560011104" sldId="298"/>
            <ac:picMk id="11" creationId="{D70C2A39-1FB3-1FEB-0215-D5D414004F37}"/>
          </ac:picMkLst>
        </pc:picChg>
      </pc:sldChg>
      <pc:sldChg chg="addSp modSp new mod">
        <pc:chgData name="harshit mishra" userId="b42b32ded276d5d8" providerId="LiveId" clId="{F4F8423F-A5D7-4C37-A36F-31D798F1BAAA}" dt="2025-09-25T14:52:19.195" v="95" actId="14100"/>
        <pc:sldMkLst>
          <pc:docMk/>
          <pc:sldMk cId="3805595309" sldId="299"/>
        </pc:sldMkLst>
        <pc:spChg chg="add mod">
          <ac:chgData name="harshit mishra" userId="b42b32ded276d5d8" providerId="LiveId" clId="{F4F8423F-A5D7-4C37-A36F-31D798F1BAAA}" dt="2025-09-25T14:52:19.195" v="95" actId="14100"/>
          <ac:spMkLst>
            <pc:docMk/>
            <pc:sldMk cId="3805595309" sldId="299"/>
            <ac:spMk id="4" creationId="{74B0FBC8-3C47-64A2-A912-42BACD6C77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4</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5</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9/25/2025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9/25/2025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9/25/2025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9/25/2025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9/25/2025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9/25/2025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9/25/2025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954884-0690-A2CF-6F09-FF204D1C93DE}"/>
              </a:ext>
            </a:extLst>
          </p:cNvPr>
          <p:cNvPicPr>
            <a:picLocks noChangeAspect="1"/>
          </p:cNvPicPr>
          <p:nvPr/>
        </p:nvPicPr>
        <p:blipFill>
          <a:blip r:embed="rId2"/>
          <a:srcRect l="1497" t="5666" r="1039" b="5552"/>
          <a:stretch>
            <a:fillRect/>
          </a:stretch>
        </p:blipFill>
        <p:spPr>
          <a:xfrm>
            <a:off x="1581982" y="136522"/>
            <a:ext cx="8132289" cy="1310757"/>
          </a:xfrm>
          <a:prstGeom prst="rect">
            <a:avLst/>
          </a:prstGeom>
        </p:spPr>
      </p:pic>
      <p:pic>
        <p:nvPicPr>
          <p:cNvPr id="7" name="Picture 6">
            <a:extLst>
              <a:ext uri="{FF2B5EF4-FFF2-40B4-BE49-F238E27FC236}">
                <a16:creationId xmlns:a16="http://schemas.microsoft.com/office/drawing/2014/main" id="{858EDF60-3F5B-158A-8D84-881CD53C5339}"/>
              </a:ext>
            </a:extLst>
          </p:cNvPr>
          <p:cNvPicPr>
            <a:picLocks noChangeAspect="1"/>
          </p:cNvPicPr>
          <p:nvPr/>
        </p:nvPicPr>
        <p:blipFill>
          <a:blip r:embed="rId3"/>
          <a:srcRect l="33871" t="25025" r="34516" b="23871"/>
          <a:stretch>
            <a:fillRect/>
          </a:stretch>
        </p:blipFill>
        <p:spPr>
          <a:xfrm>
            <a:off x="4640826" y="1668942"/>
            <a:ext cx="3136490" cy="2389240"/>
          </a:xfrm>
          <a:prstGeom prst="rect">
            <a:avLst/>
          </a:prstGeom>
        </p:spPr>
      </p:pic>
      <p:pic>
        <p:nvPicPr>
          <p:cNvPr id="11" name="Picture 10">
            <a:extLst>
              <a:ext uri="{FF2B5EF4-FFF2-40B4-BE49-F238E27FC236}">
                <a16:creationId xmlns:a16="http://schemas.microsoft.com/office/drawing/2014/main" id="{D70C2A39-1FB3-1FEB-0215-D5D414004F37}"/>
              </a:ext>
            </a:extLst>
          </p:cNvPr>
          <p:cNvPicPr>
            <a:picLocks noChangeAspect="1"/>
          </p:cNvPicPr>
          <p:nvPr/>
        </p:nvPicPr>
        <p:blipFill>
          <a:blip r:embed="rId4"/>
          <a:srcRect l="33995" t="30822" r="34225" b="32925"/>
          <a:stretch>
            <a:fillRect/>
          </a:stretch>
        </p:blipFill>
        <p:spPr>
          <a:xfrm>
            <a:off x="9999406" y="5786282"/>
            <a:ext cx="1022555" cy="1071718"/>
          </a:xfrm>
          <a:prstGeom prst="rect">
            <a:avLst/>
          </a:prstGeom>
        </p:spPr>
      </p:pic>
      <p:sp>
        <p:nvSpPr>
          <p:cNvPr id="12" name="TextBox 11">
            <a:extLst>
              <a:ext uri="{FF2B5EF4-FFF2-40B4-BE49-F238E27FC236}">
                <a16:creationId xmlns:a16="http://schemas.microsoft.com/office/drawing/2014/main" id="{527BC5FD-F597-DB4F-B8E9-52C3BD42CAD5}"/>
              </a:ext>
            </a:extLst>
          </p:cNvPr>
          <p:cNvSpPr txBox="1"/>
          <p:nvPr/>
        </p:nvSpPr>
        <p:spPr>
          <a:xfrm>
            <a:off x="8898194" y="6091308"/>
            <a:ext cx="3519948" cy="461665"/>
          </a:xfrm>
          <a:prstGeom prst="rect">
            <a:avLst/>
          </a:prstGeom>
          <a:noFill/>
        </p:spPr>
        <p:txBody>
          <a:bodyPr wrap="square" rtlCol="0">
            <a:spAutoFit/>
          </a:bodyPr>
          <a:lstStyle/>
          <a:p>
            <a:r>
              <a:rPr lang="en-US" sz="2400" b="1" dirty="0">
                <a:latin typeface="Britannic Bold" panose="020B0903060703020204" pitchFamily="34" charset="0"/>
              </a:rPr>
              <a:t>CYBER             AEGIS</a:t>
            </a:r>
            <a:endParaRPr lang="en-IN" sz="2400" b="1" dirty="0">
              <a:latin typeface="Britannic Bold" panose="020B0903060703020204" pitchFamily="34" charset="0"/>
            </a:endParaRPr>
          </a:p>
        </p:txBody>
      </p:sp>
    </p:spTree>
    <p:extLst>
      <p:ext uri="{BB962C8B-B14F-4D97-AF65-F5344CB8AC3E}">
        <p14:creationId xmlns:p14="http://schemas.microsoft.com/office/powerpoint/2010/main" val="3560011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6AB5E3-E7B0-2FAA-DC92-F6478A422191}"/>
              </a:ext>
            </a:extLst>
          </p:cNvPr>
          <p:cNvSpPr>
            <a:spLocks noGrp="1"/>
          </p:cNvSpPr>
          <p:nvPr>
            <p:ph type="ftr" sz="quarter" idx="11"/>
          </p:nvPr>
        </p:nvSpPr>
        <p:spPr/>
        <p:txBody>
          <a:bodyPr/>
          <a:lstStyle/>
          <a:p>
            <a:pPr>
              <a:defRPr/>
            </a:pPr>
            <a:r>
              <a:rPr lang="en-US"/>
              <a:t>@SIH Idea submission- Template</a:t>
            </a:r>
          </a:p>
        </p:txBody>
      </p:sp>
      <p:sp>
        <p:nvSpPr>
          <p:cNvPr id="3" name="Slide Number Placeholder 2">
            <a:extLst>
              <a:ext uri="{FF2B5EF4-FFF2-40B4-BE49-F238E27FC236}">
                <a16:creationId xmlns:a16="http://schemas.microsoft.com/office/drawing/2014/main" id="{0D8ABAE5-41C8-1538-E537-7DF894DB7387}"/>
              </a:ext>
            </a:extLst>
          </p:cNvPr>
          <p:cNvSpPr>
            <a:spLocks noGrp="1"/>
          </p:cNvSpPr>
          <p:nvPr>
            <p:ph type="sldNum" sz="quarter" idx="12"/>
          </p:nvPr>
        </p:nvSpPr>
        <p:spPr/>
        <p:txBody>
          <a:bodyPr/>
          <a:lstStyle/>
          <a:p>
            <a:fld id="{B635AFB3-1ACD-44AC-8702-86B1729DF035}" type="slidenum">
              <a:rPr lang="en-US" smtClean="0"/>
              <a:pPr/>
              <a:t>2</a:t>
            </a:fld>
            <a:endParaRPr lang="en-US"/>
          </a:p>
        </p:txBody>
      </p:sp>
      <p:sp>
        <p:nvSpPr>
          <p:cNvPr id="4" name="TextBox 3">
            <a:extLst>
              <a:ext uri="{FF2B5EF4-FFF2-40B4-BE49-F238E27FC236}">
                <a16:creationId xmlns:a16="http://schemas.microsoft.com/office/drawing/2014/main" id="{74B0FBC8-3C47-64A2-A912-42BACD6C77F7}"/>
              </a:ext>
            </a:extLst>
          </p:cNvPr>
          <p:cNvSpPr txBox="1"/>
          <p:nvPr/>
        </p:nvSpPr>
        <p:spPr>
          <a:xfrm>
            <a:off x="999612" y="184666"/>
            <a:ext cx="5096387" cy="523220"/>
          </a:xfrm>
          <a:prstGeom prst="rect">
            <a:avLst/>
          </a:prstGeom>
          <a:noFill/>
        </p:spPr>
        <p:txBody>
          <a:bodyPr wrap="square" rtlCol="0">
            <a:spAutoFit/>
          </a:bodyPr>
          <a:lstStyle/>
          <a:p>
            <a:r>
              <a:rPr lang="en-US" sz="2800" dirty="0"/>
              <a:t>Fake News Analyzer</a:t>
            </a:r>
            <a:endParaRPr lang="en-IN" sz="2800" dirty="0"/>
          </a:p>
        </p:txBody>
      </p:sp>
    </p:spTree>
    <p:extLst>
      <p:ext uri="{BB962C8B-B14F-4D97-AF65-F5344CB8AC3E}">
        <p14:creationId xmlns:p14="http://schemas.microsoft.com/office/powerpoint/2010/main" val="3805595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 Template</a:t>
            </a: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IN" sz="3600" b="1" dirty="0"/>
              <a:t>Why To Implement This Solution?</a:t>
            </a:r>
            <a:endParaRPr lang="en-IN" sz="36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B1E2896-1296-471B-D304-F835EE908598}"/>
              </a:ext>
            </a:extLst>
          </p:cNvPr>
          <p:cNvSpPr txBox="1"/>
          <p:nvPr/>
        </p:nvSpPr>
        <p:spPr>
          <a:xfrm>
            <a:off x="1393371" y="1641987"/>
            <a:ext cx="184731" cy="369332"/>
          </a:xfrm>
          <a:prstGeom prst="rect">
            <a:avLst/>
          </a:prstGeom>
          <a:noFill/>
        </p:spPr>
        <p:txBody>
          <a:bodyPr wrap="none" rtlCol="0">
            <a:spAutoFit/>
          </a:bodyPr>
          <a:lstStyle/>
          <a:p>
            <a:endParaRPr lang="en-IN" dirty="0"/>
          </a:p>
        </p:txBody>
      </p:sp>
      <p:sp>
        <p:nvSpPr>
          <p:cNvPr id="5" name="TextBox 4">
            <a:extLst>
              <a:ext uri="{FF2B5EF4-FFF2-40B4-BE49-F238E27FC236}">
                <a16:creationId xmlns:a16="http://schemas.microsoft.com/office/drawing/2014/main" id="{F404BC7C-9609-13D6-85C2-07C7E0438723}"/>
              </a:ext>
            </a:extLst>
          </p:cNvPr>
          <p:cNvSpPr txBox="1"/>
          <p:nvPr/>
        </p:nvSpPr>
        <p:spPr>
          <a:xfrm>
            <a:off x="84288" y="753397"/>
            <a:ext cx="4998989" cy="2862322"/>
          </a:xfrm>
          <a:prstGeom prst="rect">
            <a:avLst/>
          </a:prstGeom>
          <a:noFill/>
        </p:spPr>
        <p:txBody>
          <a:bodyPr wrap="square">
            <a:spAutoFit/>
          </a:bodyPr>
          <a:lstStyle/>
          <a:p>
            <a:pPr marL="285750" indent="-285750">
              <a:buFont typeface="Wingdings" panose="05000000000000000000" pitchFamily="2" charset="2"/>
              <a:buChar char="v"/>
            </a:pPr>
            <a:r>
              <a:rPr lang="en-US" b="1" dirty="0">
                <a:latin typeface="Arial" panose="020B0604020202020204" pitchFamily="34" charset="0"/>
                <a:cs typeface="Arial" panose="020B0604020202020204" pitchFamily="34" charset="0"/>
              </a:rPr>
              <a:t>Key Problem</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Social media has become a major platform for spreading news, opinions, and even misinformation. In sensitive situations like protests, crimes, or emergencies, certain posts can go viral and directly impact public safety. Law enforcement agencies require quick access to such information, but the current manual and platform-specific search methods are inefficient and time-consuming.</a:t>
            </a:r>
            <a:endParaRPr lang="en-IN"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C7E4384-6FE2-B3BF-9C83-3EAF6164A685}"/>
              </a:ext>
            </a:extLst>
          </p:cNvPr>
          <p:cNvPicPr>
            <a:picLocks noChangeAspect="1"/>
          </p:cNvPicPr>
          <p:nvPr/>
        </p:nvPicPr>
        <p:blipFill>
          <a:blip r:embed="rId3"/>
          <a:srcRect l="6591" t="11427" r="5762" b="12903"/>
          <a:stretch>
            <a:fillRect/>
          </a:stretch>
        </p:blipFill>
        <p:spPr>
          <a:xfrm>
            <a:off x="4982447" y="646331"/>
            <a:ext cx="7055353" cy="6104603"/>
          </a:xfrm>
          <a:prstGeom prst="rect">
            <a:avLst/>
          </a:prstGeom>
        </p:spPr>
      </p:pic>
      <p:sp>
        <p:nvSpPr>
          <p:cNvPr id="12" name="TextBox 11">
            <a:extLst>
              <a:ext uri="{FF2B5EF4-FFF2-40B4-BE49-F238E27FC236}">
                <a16:creationId xmlns:a16="http://schemas.microsoft.com/office/drawing/2014/main" id="{1B52F7D1-86D7-A572-831C-3B9E2BCD2200}"/>
              </a:ext>
            </a:extLst>
          </p:cNvPr>
          <p:cNvSpPr txBox="1"/>
          <p:nvPr/>
        </p:nvSpPr>
        <p:spPr>
          <a:xfrm>
            <a:off x="154200" y="4003388"/>
            <a:ext cx="5509181" cy="2246769"/>
          </a:xfrm>
          <a:prstGeom prst="rect">
            <a:avLst/>
          </a:prstGeom>
          <a:noFill/>
        </p:spPr>
        <p:txBody>
          <a:bodyPr wrap="square">
            <a:spAutoFit/>
          </a:bodyPr>
          <a:lstStyle/>
          <a:p>
            <a:pPr marL="342900" indent="-342900">
              <a:buFont typeface="Wingdings" panose="05000000000000000000" pitchFamily="2" charset="2"/>
              <a:buChar char="v"/>
            </a:pPr>
            <a:r>
              <a:rPr lang="en-US" sz="2000" b="1" dirty="0">
                <a:latin typeface="Arial" panose="020B0604020202020204" pitchFamily="34" charset="0"/>
                <a:cs typeface="Arial" panose="020B0604020202020204" pitchFamily="34" charset="0"/>
              </a:rPr>
              <a:t>What Does We Want?</a:t>
            </a:r>
            <a:endParaRPr lang="en-US" sz="2000" dirty="0">
              <a:latin typeface="Arial" panose="020B0604020202020204" pitchFamily="34" charset="0"/>
              <a:cs typeface="Arial" panose="020B0604020202020204" pitchFamily="34" charset="0"/>
            </a:endParaRPr>
          </a:p>
          <a:p>
            <a:pPr>
              <a:buNone/>
            </a:pPr>
            <a:r>
              <a:rPr lang="en-US" sz="2000" dirty="0">
                <a:latin typeface="Arial" panose="020B0604020202020204" pitchFamily="34" charset="0"/>
                <a:cs typeface="Arial" panose="020B0604020202020204" pitchFamily="34" charset="0"/>
              </a:rPr>
              <a:t>An Implemented solution which will help law enforcement agencies move from </a:t>
            </a:r>
            <a:r>
              <a:rPr lang="en-US" sz="2000" b="1" dirty="0">
                <a:latin typeface="Arial" panose="020B0604020202020204" pitchFamily="34" charset="0"/>
                <a:cs typeface="Arial" panose="020B0604020202020204" pitchFamily="34" charset="0"/>
              </a:rPr>
              <a:t>reactive investigation to proactive monitoring</a:t>
            </a:r>
            <a:r>
              <a:rPr lang="en-US" sz="2000" dirty="0">
                <a:latin typeface="Arial" panose="020B0604020202020204" pitchFamily="34" charset="0"/>
                <a:cs typeface="Arial" panose="020B0604020202020204" pitchFamily="34" charset="0"/>
              </a:rPr>
              <a:t>. Instead of finding out about viral posts after they cause harm, authorities will be able to trace, analyze, and mitigate risks in real-time.</a:t>
            </a:r>
          </a:p>
        </p:txBody>
      </p:sp>
    </p:spTree>
    <p:extLst>
      <p:ext uri="{BB962C8B-B14F-4D97-AF65-F5344CB8AC3E}">
        <p14:creationId xmlns:p14="http://schemas.microsoft.com/office/powerpoint/2010/main" val="1588084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182998" y="-242917"/>
            <a:ext cx="10972800" cy="1143000"/>
          </a:xfrm>
        </p:spPr>
        <p:txBody>
          <a:bodyPr/>
          <a:lstStyle/>
          <a:p>
            <a:pPr eaLnBrk="1" hangingPunct="1"/>
            <a:r>
              <a:rPr lang="en-US" sz="3600" b="1" dirty="0">
                <a:solidFill>
                  <a:schemeClr val="tx2"/>
                </a:solidFill>
                <a:latin typeface="Arial" pitchFamily="34" charset="0"/>
                <a:ea typeface="ＭＳ Ｐゴシック" pitchFamily="1" charset="-128"/>
                <a:cs typeface="Arial" pitchFamily="34" charset="0"/>
              </a:rPr>
              <a:t>Workflow</a:t>
            </a: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4</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2" name="TextBox 1">
            <a:extLst>
              <a:ext uri="{FF2B5EF4-FFF2-40B4-BE49-F238E27FC236}">
                <a16:creationId xmlns:a16="http://schemas.microsoft.com/office/drawing/2014/main" id="{61C46C97-C146-8CDE-8EE1-ED378A8C1728}"/>
              </a:ext>
            </a:extLst>
          </p:cNvPr>
          <p:cNvSpPr txBox="1"/>
          <p:nvPr/>
        </p:nvSpPr>
        <p:spPr>
          <a:xfrm>
            <a:off x="1121790" y="1527142"/>
            <a:ext cx="184731" cy="369332"/>
          </a:xfrm>
          <a:prstGeom prst="rect">
            <a:avLst/>
          </a:prstGeom>
          <a:noFill/>
        </p:spPr>
        <p:txBody>
          <a:bodyPr wrap="none" rtlCol="0">
            <a:spAutoFit/>
          </a:bodyPr>
          <a:lstStyle/>
          <a:p>
            <a:endParaRPr lang="en-IN" dirty="0"/>
          </a:p>
        </p:txBody>
      </p:sp>
      <p:sp>
        <p:nvSpPr>
          <p:cNvPr id="3" name="TextBox 2">
            <a:extLst>
              <a:ext uri="{FF2B5EF4-FFF2-40B4-BE49-F238E27FC236}">
                <a16:creationId xmlns:a16="http://schemas.microsoft.com/office/drawing/2014/main" id="{CE087628-5305-2AB0-1C9F-1487B8C7C332}"/>
              </a:ext>
            </a:extLst>
          </p:cNvPr>
          <p:cNvSpPr txBox="1"/>
          <p:nvPr/>
        </p:nvSpPr>
        <p:spPr>
          <a:xfrm>
            <a:off x="0" y="328583"/>
            <a:ext cx="5354425" cy="6340197"/>
          </a:xfrm>
          <a:prstGeom prst="rect">
            <a:avLst/>
          </a:prstGeom>
          <a:noFill/>
        </p:spPr>
        <p:txBody>
          <a:bodyPr wrap="square" rtlCol="0">
            <a:spAutoFit/>
          </a:bodyPr>
          <a:lstStyle/>
          <a:p>
            <a:endParaRPr lang="en-US"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400" b="1" dirty="0">
                <a:latin typeface="Arial" panose="020B0604020202020204" pitchFamily="34" charset="0"/>
                <a:cs typeface="Arial" panose="020B0604020202020204" pitchFamily="34" charset="0"/>
              </a:rPr>
              <a:t> How the System Works</a:t>
            </a:r>
          </a:p>
          <a:p>
            <a:r>
              <a:rPr lang="en-US" sz="1400" b="1" dirty="0">
                <a:latin typeface="Arial" panose="020B0604020202020204" pitchFamily="34" charset="0"/>
                <a:cs typeface="Arial" panose="020B0604020202020204" pitchFamily="34" charset="0"/>
              </a:rPr>
              <a:t>Front-End (What police see):</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 screen to type in keywords, select region, and choose time range.</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Results shown as a timeline of posts.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Highlight the most influential users spreading the content</a:t>
            </a:r>
          </a:p>
          <a:p>
            <a:endParaRPr lang="en-US"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400" b="1" dirty="0">
                <a:latin typeface="Arial" panose="020B0604020202020204" pitchFamily="34" charset="0"/>
                <a:cs typeface="Arial" panose="020B0604020202020204" pitchFamily="34" charset="0"/>
              </a:rPr>
              <a:t>Data Collection:</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Gathers posts directly from social media platforms.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If needed, gathers information through safe and legal methods.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Uses a system to handle large amounts of data smoothly.</a:t>
            </a:r>
          </a:p>
          <a:p>
            <a:endParaRPr lang="en-US"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400" b="1" dirty="0">
                <a:latin typeface="Arial" panose="020B0604020202020204" pitchFamily="34" charset="0"/>
                <a:cs typeface="Arial" panose="020B0604020202020204" pitchFamily="34" charset="0"/>
              </a:rPr>
              <a:t>Analysis (Making sense of data):</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Detects viral content early.</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Identifies influencers who spread it.</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Groups posts into events along a timeline.</a:t>
            </a:r>
          </a:p>
          <a:p>
            <a:endParaRPr lang="en-US"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400" b="1" dirty="0">
                <a:latin typeface="Arial" panose="020B0604020202020204" pitchFamily="34" charset="0"/>
                <a:cs typeface="Arial" panose="020B0604020202020204" pitchFamily="34" charset="0"/>
              </a:rPr>
              <a:t> Key Features: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Regional filtering (tags, profile, text, language)</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Chronological results (standard time order)</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User details :-</a:t>
            </a:r>
          </a:p>
          <a:p>
            <a:pPr marL="742950" lvl="1"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Author Verification: Verifies the user posting content is valid or not.</a:t>
            </a:r>
          </a:p>
          <a:p>
            <a:pPr marL="742950" lvl="1"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Unique Key ID: It also shows unique key ID of author, posts, reposts, the author who had done reposts.</a:t>
            </a:r>
          </a:p>
          <a:p>
            <a:pPr marL="742950" lvl="1"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 Dates &amp; Time: Dates &amp; Time of every posts and reposts will be shown.        </a:t>
            </a:r>
          </a:p>
        </p:txBody>
      </p:sp>
      <p:pic>
        <p:nvPicPr>
          <p:cNvPr id="8" name="Picture 7">
            <a:extLst>
              <a:ext uri="{FF2B5EF4-FFF2-40B4-BE49-F238E27FC236}">
                <a16:creationId xmlns:a16="http://schemas.microsoft.com/office/drawing/2014/main" id="{9799ABD4-DE61-9EBE-40E5-5E1ED578F75A}"/>
              </a:ext>
            </a:extLst>
          </p:cNvPr>
          <p:cNvPicPr>
            <a:picLocks noChangeAspect="1"/>
          </p:cNvPicPr>
          <p:nvPr/>
        </p:nvPicPr>
        <p:blipFill>
          <a:blip r:embed="rId3"/>
          <a:srcRect b="3503"/>
          <a:stretch>
            <a:fillRect/>
          </a:stretch>
        </p:blipFill>
        <p:spPr>
          <a:xfrm>
            <a:off x="5354425" y="-171379"/>
            <a:ext cx="6227975" cy="68928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5</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3" name="TextBox 2">
            <a:extLst>
              <a:ext uri="{FF2B5EF4-FFF2-40B4-BE49-F238E27FC236}">
                <a16:creationId xmlns:a16="http://schemas.microsoft.com/office/drawing/2014/main" id="{6DF6CDB9-7B48-E8E1-A4C0-4556708D514E}"/>
              </a:ext>
            </a:extLst>
          </p:cNvPr>
          <p:cNvSpPr txBox="1"/>
          <p:nvPr/>
        </p:nvSpPr>
        <p:spPr>
          <a:xfrm>
            <a:off x="20426" y="1350850"/>
            <a:ext cx="6094428" cy="1600438"/>
          </a:xfrm>
          <a:prstGeom prst="rect">
            <a:avLst/>
          </a:prstGeom>
          <a:noFill/>
        </p:spPr>
        <p:txBody>
          <a:bodyPr wrap="square">
            <a:spAutoFit/>
          </a:bodyPr>
          <a:lstStyle/>
          <a:p>
            <a:r>
              <a:rPr lang="en-IN" sz="1400" b="1" dirty="0"/>
              <a:t>Data Collection &amp; Ingestion:</a:t>
            </a:r>
            <a:endParaRPr lang="en-IN" sz="1400" dirty="0"/>
          </a:p>
          <a:p>
            <a:pPr marL="285750" indent="-285750">
              <a:buFont typeface="Arial" panose="020B0604020202020204" pitchFamily="34" charset="0"/>
              <a:buChar char="•"/>
            </a:pPr>
            <a:r>
              <a:rPr lang="en-IN" sz="1400" dirty="0"/>
              <a:t>Collect posts through official social media APIs (Twitter/X API, Facebook Graph API, Instagram APIs).</a:t>
            </a:r>
          </a:p>
          <a:p>
            <a:pPr marL="285750" indent="-285750">
              <a:buFont typeface="Arial" panose="020B0604020202020204" pitchFamily="34" charset="0"/>
              <a:buChar char="•"/>
            </a:pPr>
            <a:r>
              <a:rPr lang="en-IN" sz="1400" dirty="0"/>
              <a:t>Use web scraping tools (</a:t>
            </a:r>
            <a:r>
              <a:rPr lang="en-IN" sz="1400" dirty="0" err="1"/>
              <a:t>BeautifulSoup</a:t>
            </a:r>
            <a:r>
              <a:rPr lang="en-IN" sz="1400" dirty="0"/>
              <a:t>, Scrapy) where APIs are limited.</a:t>
            </a:r>
          </a:p>
          <a:p>
            <a:pPr marL="285750" indent="-285750">
              <a:buFont typeface="Arial" panose="020B0604020202020204" pitchFamily="34" charset="0"/>
              <a:buChar char="•"/>
            </a:pPr>
            <a:r>
              <a:rPr lang="en-IN" sz="1400" dirty="0"/>
              <a:t>Real-time ingestion using </a:t>
            </a:r>
            <a:r>
              <a:rPr lang="en-IN" sz="1400" b="1" dirty="0"/>
              <a:t>Kafka</a:t>
            </a:r>
            <a:r>
              <a:rPr lang="en-IN" sz="1400" dirty="0"/>
              <a:t> or </a:t>
            </a:r>
            <a:r>
              <a:rPr lang="en-IN" sz="1400" b="1" dirty="0"/>
              <a:t>RabbitMQ</a:t>
            </a:r>
            <a:r>
              <a:rPr lang="en-IN" sz="1400" dirty="0"/>
              <a:t> for streaming.</a:t>
            </a:r>
          </a:p>
          <a:p>
            <a:pPr marL="285750" indent="-285750">
              <a:buFont typeface="Arial" panose="020B0604020202020204" pitchFamily="34" charset="0"/>
              <a:buChar char="•"/>
            </a:pPr>
            <a:r>
              <a:rPr lang="en-IN" sz="1400" dirty="0"/>
              <a:t>Normalize collected data into a common schema (user info, post text, timestamp, engagement)</a:t>
            </a:r>
          </a:p>
        </p:txBody>
      </p:sp>
      <p:sp>
        <p:nvSpPr>
          <p:cNvPr id="5" name="TextBox 4">
            <a:extLst>
              <a:ext uri="{FF2B5EF4-FFF2-40B4-BE49-F238E27FC236}">
                <a16:creationId xmlns:a16="http://schemas.microsoft.com/office/drawing/2014/main" id="{971CF8AD-C261-D8FD-0054-8B12E6D44B7E}"/>
              </a:ext>
            </a:extLst>
          </p:cNvPr>
          <p:cNvSpPr txBox="1"/>
          <p:nvPr/>
        </p:nvSpPr>
        <p:spPr>
          <a:xfrm>
            <a:off x="-26708" y="3072223"/>
            <a:ext cx="6103856" cy="1600438"/>
          </a:xfrm>
          <a:prstGeom prst="rect">
            <a:avLst/>
          </a:prstGeom>
          <a:noFill/>
        </p:spPr>
        <p:txBody>
          <a:bodyPr wrap="square">
            <a:spAutoFit/>
          </a:bodyPr>
          <a:lstStyle/>
          <a:p>
            <a:r>
              <a:rPr lang="en-IN" sz="1400" b="1" dirty="0"/>
              <a:t>Data Storage &amp; Processing:</a:t>
            </a:r>
            <a:endParaRPr lang="en-IN" sz="1400" dirty="0"/>
          </a:p>
          <a:p>
            <a:pPr marL="285750" indent="-285750">
              <a:buFont typeface="Arial" panose="020B0604020202020204" pitchFamily="34" charset="0"/>
              <a:buChar char="•"/>
            </a:pPr>
            <a:r>
              <a:rPr lang="en-IN" sz="1400" dirty="0"/>
              <a:t>Store raw posts, metadata, and user details in </a:t>
            </a:r>
            <a:r>
              <a:rPr lang="en-IN" sz="1400" b="1" dirty="0"/>
              <a:t>MongoDB</a:t>
            </a:r>
            <a:r>
              <a:rPr lang="en-IN" sz="1400" dirty="0"/>
              <a:t> (NoSQL) or </a:t>
            </a:r>
            <a:r>
              <a:rPr lang="en-IN" sz="1400" b="1" dirty="0"/>
              <a:t>PostgreSQL</a:t>
            </a:r>
            <a:r>
              <a:rPr lang="en-IN" sz="1400" dirty="0"/>
              <a:t> (SQL).</a:t>
            </a:r>
          </a:p>
          <a:p>
            <a:pPr marL="285750" indent="-285750">
              <a:buFont typeface="Arial" panose="020B0604020202020204" pitchFamily="34" charset="0"/>
              <a:buChar char="•"/>
            </a:pPr>
            <a:r>
              <a:rPr lang="en-IN" sz="1400" dirty="0"/>
              <a:t>Use </a:t>
            </a:r>
            <a:r>
              <a:rPr lang="en-IN" sz="1400" b="1" dirty="0"/>
              <a:t>Elasticsearch/OpenSearch</a:t>
            </a:r>
            <a:r>
              <a:rPr lang="en-IN" sz="1400" dirty="0"/>
              <a:t> for indexing and fast keyword search.</a:t>
            </a:r>
          </a:p>
          <a:p>
            <a:pPr marL="285750" indent="-285750">
              <a:buFont typeface="Arial" panose="020B0604020202020204" pitchFamily="34" charset="0"/>
              <a:buChar char="•"/>
            </a:pPr>
            <a:r>
              <a:rPr lang="en-IN" sz="1400" dirty="0"/>
              <a:t>Implement data pipelines with </a:t>
            </a:r>
            <a:r>
              <a:rPr lang="en-IN" sz="1400" b="1" dirty="0"/>
              <a:t>Apache Spark / Flink</a:t>
            </a:r>
            <a:r>
              <a:rPr lang="en-IN" sz="1400" dirty="0"/>
              <a:t> for large-scale processing.</a:t>
            </a:r>
          </a:p>
          <a:p>
            <a:pPr marL="285750" indent="-285750">
              <a:buFont typeface="Arial" panose="020B0604020202020204" pitchFamily="34" charset="0"/>
              <a:buChar char="•"/>
            </a:pPr>
            <a:r>
              <a:rPr lang="en-IN" sz="1400" dirty="0"/>
              <a:t>Create a search index for quick retrieval of chronological results</a:t>
            </a:r>
          </a:p>
        </p:txBody>
      </p:sp>
      <p:sp>
        <p:nvSpPr>
          <p:cNvPr id="12" name="TextBox 11">
            <a:extLst>
              <a:ext uri="{FF2B5EF4-FFF2-40B4-BE49-F238E27FC236}">
                <a16:creationId xmlns:a16="http://schemas.microsoft.com/office/drawing/2014/main" id="{C02EBAB6-EE65-83C5-6D4C-99210A4D3F0E}"/>
              </a:ext>
            </a:extLst>
          </p:cNvPr>
          <p:cNvSpPr txBox="1"/>
          <p:nvPr/>
        </p:nvSpPr>
        <p:spPr>
          <a:xfrm>
            <a:off x="-26708" y="4761917"/>
            <a:ext cx="6103856" cy="954107"/>
          </a:xfrm>
          <a:prstGeom prst="rect">
            <a:avLst/>
          </a:prstGeom>
          <a:noFill/>
        </p:spPr>
        <p:txBody>
          <a:bodyPr wrap="square">
            <a:spAutoFit/>
          </a:bodyPr>
          <a:lstStyle/>
          <a:p>
            <a:pPr>
              <a:buNone/>
            </a:pPr>
            <a:r>
              <a:rPr lang="en-IN" sz="1400" b="1" dirty="0"/>
              <a:t>Preprocessing &amp; Filtering:</a:t>
            </a:r>
            <a:endParaRPr lang="en-IN" sz="1400" dirty="0"/>
          </a:p>
          <a:p>
            <a:pPr>
              <a:buFont typeface="Arial" panose="020B0604020202020204" pitchFamily="34" charset="0"/>
              <a:buChar char="•"/>
            </a:pPr>
            <a:r>
              <a:rPr lang="en-IN" sz="1400" dirty="0"/>
              <a:t>     Text cleaning: NLTK / </a:t>
            </a:r>
            <a:r>
              <a:rPr lang="en-IN" sz="1400" dirty="0" err="1"/>
              <a:t>SpaCy</a:t>
            </a:r>
            <a:endParaRPr lang="en-IN" sz="1400" dirty="0"/>
          </a:p>
          <a:p>
            <a:pPr>
              <a:buFont typeface="Arial" panose="020B0604020202020204" pitchFamily="34" charset="0"/>
              <a:buChar char="•"/>
            </a:pPr>
            <a:r>
              <a:rPr lang="en-IN" sz="1400" dirty="0"/>
              <a:t>     Language detection: </a:t>
            </a:r>
            <a:r>
              <a:rPr lang="en-IN" sz="1400" dirty="0" err="1"/>
              <a:t>fastText</a:t>
            </a:r>
            <a:r>
              <a:rPr lang="en-IN" sz="1400" dirty="0"/>
              <a:t> / </a:t>
            </a:r>
            <a:r>
              <a:rPr lang="en-IN" sz="1400" dirty="0" err="1"/>
              <a:t>langdetect</a:t>
            </a:r>
            <a:endParaRPr lang="en-IN" sz="1400" dirty="0"/>
          </a:p>
          <a:p>
            <a:pPr>
              <a:buFont typeface="Arial" panose="020B0604020202020204" pitchFamily="34" charset="0"/>
              <a:buChar char="•"/>
            </a:pPr>
            <a:r>
              <a:rPr lang="en-IN" sz="1400" dirty="0"/>
              <a:t>     Location filtering: Geotags + Named Entity Recognition (NER)</a:t>
            </a:r>
          </a:p>
        </p:txBody>
      </p:sp>
      <p:sp>
        <p:nvSpPr>
          <p:cNvPr id="14" name="TextBox 13">
            <a:extLst>
              <a:ext uri="{FF2B5EF4-FFF2-40B4-BE49-F238E27FC236}">
                <a16:creationId xmlns:a16="http://schemas.microsoft.com/office/drawing/2014/main" id="{20BA153B-47E6-38F4-45C5-9549D22499E6}"/>
              </a:ext>
            </a:extLst>
          </p:cNvPr>
          <p:cNvSpPr txBox="1"/>
          <p:nvPr/>
        </p:nvSpPr>
        <p:spPr>
          <a:xfrm>
            <a:off x="-26708" y="5767371"/>
            <a:ext cx="6113282" cy="954107"/>
          </a:xfrm>
          <a:prstGeom prst="rect">
            <a:avLst/>
          </a:prstGeom>
          <a:noFill/>
        </p:spPr>
        <p:txBody>
          <a:bodyPr wrap="square">
            <a:spAutoFit/>
          </a:bodyPr>
          <a:lstStyle/>
          <a:p>
            <a:pPr>
              <a:buNone/>
            </a:pPr>
            <a:r>
              <a:rPr lang="en-IN" sz="1400" b="1" dirty="0"/>
              <a:t>Virality &amp; Fake Detection:</a:t>
            </a:r>
            <a:endParaRPr lang="en-IN" sz="1400" dirty="0"/>
          </a:p>
          <a:p>
            <a:pPr>
              <a:buFont typeface="Arial" panose="020B0604020202020204" pitchFamily="34" charset="0"/>
              <a:buChar char="•"/>
            </a:pPr>
            <a:r>
              <a:rPr lang="en-IN" sz="1400" dirty="0"/>
              <a:t>     Virality: Time-series models (ARIMA / Prophet / LSTM)</a:t>
            </a:r>
          </a:p>
          <a:p>
            <a:pPr>
              <a:buFont typeface="Arial" panose="020B0604020202020204" pitchFamily="34" charset="0"/>
              <a:buChar char="•"/>
            </a:pPr>
            <a:r>
              <a:rPr lang="en-IN" sz="1400" dirty="0"/>
              <a:t>     Fake post detection: Transformer models (BERT, </a:t>
            </a:r>
            <a:r>
              <a:rPr lang="en-IN" sz="1400" dirty="0" err="1"/>
              <a:t>RoBERTa</a:t>
            </a:r>
            <a:r>
              <a:rPr lang="en-IN" sz="1400" dirty="0"/>
              <a:t>)</a:t>
            </a:r>
          </a:p>
          <a:p>
            <a:pPr>
              <a:buFont typeface="Arial" panose="020B0604020202020204" pitchFamily="34" charset="0"/>
              <a:buChar char="•"/>
            </a:pPr>
            <a:r>
              <a:rPr lang="en-IN" sz="1400" dirty="0"/>
              <a:t>     Bot detection: Account metadata + anomaly detection</a:t>
            </a:r>
          </a:p>
        </p:txBody>
      </p:sp>
      <p:pic>
        <p:nvPicPr>
          <p:cNvPr id="18" name="Picture 17">
            <a:extLst>
              <a:ext uri="{FF2B5EF4-FFF2-40B4-BE49-F238E27FC236}">
                <a16:creationId xmlns:a16="http://schemas.microsoft.com/office/drawing/2014/main" id="{D09F7E0C-6D85-C067-EE5A-706D05BBDDC0}"/>
              </a:ext>
            </a:extLst>
          </p:cNvPr>
          <p:cNvPicPr>
            <a:picLocks noChangeAspect="1"/>
          </p:cNvPicPr>
          <p:nvPr/>
        </p:nvPicPr>
        <p:blipFill>
          <a:blip r:embed="rId3"/>
          <a:srcRect l="2740" t="10186" r="-8368" b="-1173"/>
          <a:stretch>
            <a:fillRect/>
          </a:stretch>
        </p:blipFill>
        <p:spPr>
          <a:xfrm>
            <a:off x="5865042" y="593889"/>
            <a:ext cx="6306532" cy="68321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499621" y="-47625"/>
            <a:ext cx="12082021"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5" name="TextBox 4">
            <a:extLst>
              <a:ext uri="{FF2B5EF4-FFF2-40B4-BE49-F238E27FC236}">
                <a16:creationId xmlns:a16="http://schemas.microsoft.com/office/drawing/2014/main" id="{6215913A-9B94-A637-A1BC-A9CC22DFDF8A}"/>
              </a:ext>
            </a:extLst>
          </p:cNvPr>
          <p:cNvSpPr txBox="1"/>
          <p:nvPr/>
        </p:nvSpPr>
        <p:spPr>
          <a:xfrm>
            <a:off x="945822" y="1459165"/>
            <a:ext cx="10636578" cy="375487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Quick Access to Evidence</a:t>
            </a:r>
            <a:r>
              <a:rPr kumimoji="0" lang="en-US" altLang="en-US" sz="1400" b="0" i="0" u="none" strike="noStrike" cap="none" normalizeH="0" baseline="0" dirty="0">
                <a:ln>
                  <a:noFill/>
                </a:ln>
                <a:solidFill>
                  <a:schemeClr val="tx1"/>
                </a:solidFill>
                <a:effectLst/>
                <a:latin typeface="Arial" panose="020B0604020202020204" pitchFamily="34" charset="0"/>
              </a:rPr>
              <a:t> – Instantly search and retrieve relevant posts with time, location, and user details.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Early Warning System</a:t>
            </a:r>
            <a:r>
              <a:rPr kumimoji="0" lang="en-US" altLang="en-US" sz="1400" b="0" i="0" u="none" strike="noStrike" cap="none" normalizeH="0" baseline="0" dirty="0">
                <a:ln>
                  <a:noFill/>
                </a:ln>
                <a:solidFill>
                  <a:schemeClr val="tx1"/>
                </a:solidFill>
                <a:effectLst/>
                <a:latin typeface="Arial" panose="020B0604020202020204" pitchFamily="34" charset="0"/>
              </a:rPr>
              <a:t> – Detect viral or fake content before it causes public disorder.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Region-Specific Insights</a:t>
            </a:r>
            <a:r>
              <a:rPr kumimoji="0" lang="en-US" altLang="en-US" sz="1400" b="0" i="0" u="none" strike="noStrike" cap="none" normalizeH="0" baseline="0" dirty="0">
                <a:ln>
                  <a:noFill/>
                </a:ln>
                <a:solidFill>
                  <a:schemeClr val="tx1"/>
                </a:solidFill>
                <a:effectLst/>
                <a:latin typeface="Arial" panose="020B0604020202020204" pitchFamily="34" charset="0"/>
              </a:rPr>
              <a:t> – Focus investigations on posts from the exact area of concern.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Fake News Filtering</a:t>
            </a:r>
            <a:r>
              <a:rPr kumimoji="0" lang="en-US" altLang="en-US" sz="1400" b="0" i="0" u="none" strike="noStrike" cap="none" normalizeH="0" baseline="0" dirty="0">
                <a:ln>
                  <a:noFill/>
                </a:ln>
                <a:solidFill>
                  <a:schemeClr val="tx1"/>
                </a:solidFill>
                <a:effectLst/>
                <a:latin typeface="Arial" panose="020B0604020202020204" pitchFamily="34" charset="0"/>
              </a:rPr>
              <a:t> – </a:t>
            </a:r>
            <a:r>
              <a:rPr lang="en-US" altLang="en-US" sz="1400" dirty="0">
                <a:latin typeface="Arial" panose="020B0604020202020204" pitchFamily="34" charset="0"/>
              </a:rPr>
              <a:t>A</a:t>
            </a:r>
            <a:r>
              <a:rPr kumimoji="0" lang="en-US" altLang="en-US" sz="1400" b="0" i="0" u="none" strike="noStrike" cap="none" normalizeH="0" baseline="0" dirty="0">
                <a:ln>
                  <a:noFill/>
                </a:ln>
                <a:solidFill>
                  <a:schemeClr val="tx1"/>
                </a:solidFill>
                <a:effectLst/>
                <a:latin typeface="Arial" panose="020B0604020202020204" pitchFamily="34" charset="0"/>
              </a:rPr>
              <a:t>utomatically flags suspicious posts, reducing manual verification work.</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Better Decision Making</a:t>
            </a:r>
            <a:r>
              <a:rPr kumimoji="0" lang="en-US" altLang="en-US" sz="1400" b="0" i="0" u="none" strike="noStrike" cap="none" normalizeH="0" baseline="0" dirty="0">
                <a:ln>
                  <a:noFill/>
                </a:ln>
                <a:solidFill>
                  <a:schemeClr val="tx1"/>
                </a:solidFill>
                <a:effectLst/>
                <a:latin typeface="Arial" panose="020B0604020202020204" pitchFamily="34" charset="0"/>
              </a:rPr>
              <a:t> – Data-driven insights for planning responses to protests, scams, or misinformation campaigns.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Legal Support</a:t>
            </a:r>
            <a:r>
              <a:rPr kumimoji="0" lang="en-US" altLang="en-US" sz="1400" b="0" i="0" u="none" strike="noStrike" cap="none" normalizeH="0" baseline="0" dirty="0">
                <a:ln>
                  <a:noFill/>
                </a:ln>
                <a:solidFill>
                  <a:schemeClr val="tx1"/>
                </a:solidFill>
                <a:effectLst/>
                <a:latin typeface="Arial" panose="020B0604020202020204" pitchFamily="34" charset="0"/>
              </a:rPr>
              <a:t> – Provides digital evidence that can be used in reports or court cases.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Time Efficiency</a:t>
            </a:r>
            <a:r>
              <a:rPr kumimoji="0" lang="en-US" altLang="en-US" sz="1400" b="0" i="0" u="none" strike="noStrike" cap="none" normalizeH="0" baseline="0" dirty="0">
                <a:ln>
                  <a:noFill/>
                </a:ln>
                <a:solidFill>
                  <a:schemeClr val="tx1"/>
                </a:solidFill>
                <a:effectLst/>
                <a:latin typeface="Arial" panose="020B0604020202020204" pitchFamily="34" charset="0"/>
              </a:rPr>
              <a:t> – Saves officers from manually scanning huge amounts of social media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Improved Public Safety</a:t>
            </a:r>
            <a:r>
              <a:rPr kumimoji="0" lang="en-US" altLang="en-US" sz="1400" b="0" i="0" u="none" strike="noStrike" cap="none" normalizeH="0" baseline="0" dirty="0">
                <a:ln>
                  <a:noFill/>
                </a:ln>
                <a:solidFill>
                  <a:schemeClr val="tx1"/>
                </a:solidFill>
                <a:effectLst/>
                <a:latin typeface="Arial" panose="020B0604020202020204" pitchFamily="34" charset="0"/>
              </a:rPr>
              <a:t> – Helps prevent panic, fraud, or violence caused by fake/viral posts.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Cross-Platform View</a:t>
            </a:r>
            <a:r>
              <a:rPr kumimoji="0" lang="en-US" altLang="en-US" sz="1400" b="0" i="0" u="none" strike="noStrike" cap="none" normalizeH="0" baseline="0" dirty="0">
                <a:ln>
                  <a:noFill/>
                </a:ln>
                <a:solidFill>
                  <a:schemeClr val="tx1"/>
                </a:solidFill>
                <a:effectLst/>
                <a:latin typeface="Arial" panose="020B0604020202020204" pitchFamily="34" charset="0"/>
              </a:rPr>
              <a:t> – One system shows activity across multiple platforms (Twitter, Facebook, Instagram, etc.).</a:t>
            </a:r>
          </a:p>
        </p:txBody>
      </p:sp>
    </p:spTree>
    <p:extLst>
      <p:ext uri="{BB962C8B-B14F-4D97-AF65-F5344CB8AC3E}">
        <p14:creationId xmlns:p14="http://schemas.microsoft.com/office/powerpoint/2010/main" val="299714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7720</TotalTime>
  <Words>693</Words>
  <Application>Microsoft Office PowerPoint</Application>
  <PresentationFormat>Widescreen</PresentationFormat>
  <Paragraphs>87</Paragraphs>
  <Slides>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Britannic Bold</vt:lpstr>
      <vt:lpstr>Calibri</vt:lpstr>
      <vt:lpstr>Times New Roman</vt:lpstr>
      <vt:lpstr>TradeGothic</vt:lpstr>
      <vt:lpstr>Wingdings</vt:lpstr>
      <vt:lpstr>Office Theme</vt:lpstr>
      <vt:lpstr>PowerPoint Presentation</vt:lpstr>
      <vt:lpstr>PowerPoint Presentation</vt:lpstr>
      <vt:lpstr>PowerPoint Presentation</vt:lpstr>
      <vt:lpstr>Workflow</vt:lpstr>
      <vt:lpstr>TECHNICAL  APPROACH</vt:lpstr>
      <vt:lpstr>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harshit mishra</cp:lastModifiedBy>
  <cp:revision>158</cp:revision>
  <dcterms:created xsi:type="dcterms:W3CDTF">2013-12-12T18:46:50Z</dcterms:created>
  <dcterms:modified xsi:type="dcterms:W3CDTF">2025-09-25T14:53:14Z</dcterms:modified>
  <cp:category/>
</cp:coreProperties>
</file>