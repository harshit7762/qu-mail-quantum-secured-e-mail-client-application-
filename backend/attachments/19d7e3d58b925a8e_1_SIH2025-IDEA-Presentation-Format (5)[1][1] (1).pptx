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57" r:id="rId3"/>
    <p:sldId id="290" r:id="rId4"/>
    <p:sldId id="293" r:id="rId5"/>
    <p:sldId id="258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629" y="62"/>
      </p:cViewPr>
      <p:guideLst>
        <p:guide orient="horz" pos="2160"/>
        <p:guide pos="3840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C05393-1980-4DE8-9769-E0FAC4179292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39C4EA-8BCF-4812-9F12-2EB78DCD7348}">
      <dgm:prSet phldrT="[Text]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Quantum One Time Pad </a:t>
          </a:r>
        </a:p>
      </dgm:t>
    </dgm:pt>
    <dgm:pt modelId="{15F933EC-063B-412E-A90B-839313D55DC8}" type="parTrans" cxnId="{8C5E505B-6064-42F6-8D6E-7B9E96D3B0B9}">
      <dgm:prSet/>
      <dgm:spPr/>
      <dgm:t>
        <a:bodyPr/>
        <a:lstStyle/>
        <a:p>
          <a:endParaRPr lang="en-US"/>
        </a:p>
      </dgm:t>
    </dgm:pt>
    <dgm:pt modelId="{2B38757E-F906-429F-BF22-F7139A20DC72}" type="sibTrans" cxnId="{8C5E505B-6064-42F6-8D6E-7B9E96D3B0B9}">
      <dgm:prSet/>
      <dgm:spPr/>
      <dgm:t>
        <a:bodyPr/>
        <a:lstStyle/>
        <a:p>
          <a:endParaRPr lang="en-US"/>
        </a:p>
      </dgm:t>
    </dgm:pt>
    <dgm:pt modelId="{DE919F47-67F2-4E39-A999-DB444514D085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Quantum Aided AES</a:t>
          </a:r>
        </a:p>
      </dgm:t>
    </dgm:pt>
    <dgm:pt modelId="{134826A5-7A96-4AF7-B728-88F992B01921}" type="parTrans" cxnId="{55BB436C-065D-4B72-8F50-6CE05B85E4B7}">
      <dgm:prSet/>
      <dgm:spPr/>
      <dgm:t>
        <a:bodyPr/>
        <a:lstStyle/>
        <a:p>
          <a:endParaRPr lang="en-US"/>
        </a:p>
      </dgm:t>
    </dgm:pt>
    <dgm:pt modelId="{A26FC93C-5F69-40B2-AE5B-22A81E043483}" type="sibTrans" cxnId="{55BB436C-065D-4B72-8F50-6CE05B85E4B7}">
      <dgm:prSet/>
      <dgm:spPr/>
      <dgm:t>
        <a:bodyPr/>
        <a:lstStyle/>
        <a:p>
          <a:endParaRPr lang="en-US"/>
        </a:p>
      </dgm:t>
    </dgm:pt>
    <dgm:pt modelId="{0E1710CB-AB33-4157-A104-D2DD3F794A88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Post Quantum Cryptography</a:t>
          </a:r>
        </a:p>
      </dgm:t>
    </dgm:pt>
    <dgm:pt modelId="{3B22A23D-1F2F-49EA-92CF-B302F00173CA}" type="parTrans" cxnId="{71836A92-E895-47D1-A9DE-3B2B5FD9D378}">
      <dgm:prSet/>
      <dgm:spPr/>
      <dgm:t>
        <a:bodyPr/>
        <a:lstStyle/>
        <a:p>
          <a:endParaRPr lang="en-US"/>
        </a:p>
      </dgm:t>
    </dgm:pt>
    <dgm:pt modelId="{ED5D8A86-2A1E-4480-9E69-C6E948496D91}" type="sibTrans" cxnId="{71836A92-E895-47D1-A9DE-3B2B5FD9D378}">
      <dgm:prSet/>
      <dgm:spPr/>
      <dgm:t>
        <a:bodyPr/>
        <a:lstStyle/>
        <a:p>
          <a:endParaRPr lang="en-US"/>
        </a:p>
      </dgm:t>
    </dgm:pt>
    <dgm:pt modelId="{4E2288C8-6AAE-44C5-9454-BBB845AA2630}">
      <dgm:prSet phldrT="[Text]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Normal Mode</a:t>
          </a:r>
        </a:p>
      </dgm:t>
    </dgm:pt>
    <dgm:pt modelId="{FB1D6983-53DB-4989-AD89-BCFF576E23BC}" type="parTrans" cxnId="{01AC5B86-393A-4403-8C82-E5FF59099AAB}">
      <dgm:prSet/>
      <dgm:spPr/>
      <dgm:t>
        <a:bodyPr/>
        <a:lstStyle/>
        <a:p>
          <a:endParaRPr lang="en-US"/>
        </a:p>
      </dgm:t>
    </dgm:pt>
    <dgm:pt modelId="{4D40909F-B870-4E07-B390-EABD3983AD30}" type="sibTrans" cxnId="{01AC5B86-393A-4403-8C82-E5FF59099AAB}">
      <dgm:prSet/>
      <dgm:spPr/>
      <dgm:t>
        <a:bodyPr/>
        <a:lstStyle/>
        <a:p>
          <a:endParaRPr lang="en-US"/>
        </a:p>
      </dgm:t>
    </dgm:pt>
    <dgm:pt modelId="{FE7C32D0-2106-4198-9F0F-CE53A0391A41}" type="pres">
      <dgm:prSet presAssocID="{C0C05393-1980-4DE8-9769-E0FAC4179292}" presName="outerComposite" presStyleCnt="0">
        <dgm:presLayoutVars>
          <dgm:chMax val="5"/>
          <dgm:dir/>
          <dgm:resizeHandles val="exact"/>
        </dgm:presLayoutVars>
      </dgm:prSet>
      <dgm:spPr/>
    </dgm:pt>
    <dgm:pt modelId="{C37C5FAF-87A2-4C38-BC26-8794FE6EA05B}" type="pres">
      <dgm:prSet presAssocID="{C0C05393-1980-4DE8-9769-E0FAC4179292}" presName="dummyMaxCanvas" presStyleCnt="0">
        <dgm:presLayoutVars/>
      </dgm:prSet>
      <dgm:spPr/>
    </dgm:pt>
    <dgm:pt modelId="{E3F4DFA0-0A84-4E3D-9FE7-E694DA77D7E6}" type="pres">
      <dgm:prSet presAssocID="{C0C05393-1980-4DE8-9769-E0FAC4179292}" presName="FourNodes_1" presStyleLbl="node1" presStyleIdx="0" presStyleCnt="4">
        <dgm:presLayoutVars>
          <dgm:bulletEnabled val="1"/>
        </dgm:presLayoutVars>
      </dgm:prSet>
      <dgm:spPr/>
    </dgm:pt>
    <dgm:pt modelId="{60241996-FFE1-48F6-9FE6-4387FA6FDDE0}" type="pres">
      <dgm:prSet presAssocID="{C0C05393-1980-4DE8-9769-E0FAC4179292}" presName="FourNodes_2" presStyleLbl="node1" presStyleIdx="1" presStyleCnt="4">
        <dgm:presLayoutVars>
          <dgm:bulletEnabled val="1"/>
        </dgm:presLayoutVars>
      </dgm:prSet>
      <dgm:spPr/>
    </dgm:pt>
    <dgm:pt modelId="{521F258B-83E6-4695-9120-B20DF9286380}" type="pres">
      <dgm:prSet presAssocID="{C0C05393-1980-4DE8-9769-E0FAC4179292}" presName="FourNodes_3" presStyleLbl="node1" presStyleIdx="2" presStyleCnt="4">
        <dgm:presLayoutVars>
          <dgm:bulletEnabled val="1"/>
        </dgm:presLayoutVars>
      </dgm:prSet>
      <dgm:spPr/>
    </dgm:pt>
    <dgm:pt modelId="{4735AC69-B927-48E9-BB18-B2D3DA2A331B}" type="pres">
      <dgm:prSet presAssocID="{C0C05393-1980-4DE8-9769-E0FAC4179292}" presName="FourNodes_4" presStyleLbl="node1" presStyleIdx="3" presStyleCnt="4">
        <dgm:presLayoutVars>
          <dgm:bulletEnabled val="1"/>
        </dgm:presLayoutVars>
      </dgm:prSet>
      <dgm:spPr/>
    </dgm:pt>
    <dgm:pt modelId="{AC7C5A12-1884-478A-8626-71AE21BE5E9F}" type="pres">
      <dgm:prSet presAssocID="{C0C05393-1980-4DE8-9769-E0FAC4179292}" presName="FourConn_1-2" presStyleLbl="fgAccFollowNode1" presStyleIdx="0" presStyleCnt="3">
        <dgm:presLayoutVars>
          <dgm:bulletEnabled val="1"/>
        </dgm:presLayoutVars>
      </dgm:prSet>
      <dgm:spPr/>
    </dgm:pt>
    <dgm:pt modelId="{1D519B02-9DED-4794-9EC3-E318B60A7ECB}" type="pres">
      <dgm:prSet presAssocID="{C0C05393-1980-4DE8-9769-E0FAC4179292}" presName="FourConn_2-3" presStyleLbl="fgAccFollowNode1" presStyleIdx="1" presStyleCnt="3">
        <dgm:presLayoutVars>
          <dgm:bulletEnabled val="1"/>
        </dgm:presLayoutVars>
      </dgm:prSet>
      <dgm:spPr/>
    </dgm:pt>
    <dgm:pt modelId="{8CC8F4DC-1C24-4762-B719-181D9BC39A4C}" type="pres">
      <dgm:prSet presAssocID="{C0C05393-1980-4DE8-9769-E0FAC4179292}" presName="FourConn_3-4" presStyleLbl="fgAccFollowNode1" presStyleIdx="2" presStyleCnt="3">
        <dgm:presLayoutVars>
          <dgm:bulletEnabled val="1"/>
        </dgm:presLayoutVars>
      </dgm:prSet>
      <dgm:spPr/>
    </dgm:pt>
    <dgm:pt modelId="{361D2FA1-769F-4AAE-A48A-0DDAC928240A}" type="pres">
      <dgm:prSet presAssocID="{C0C05393-1980-4DE8-9769-E0FAC4179292}" presName="FourNodes_1_text" presStyleLbl="node1" presStyleIdx="3" presStyleCnt="4">
        <dgm:presLayoutVars>
          <dgm:bulletEnabled val="1"/>
        </dgm:presLayoutVars>
      </dgm:prSet>
      <dgm:spPr/>
    </dgm:pt>
    <dgm:pt modelId="{3A25AF06-4087-4D47-A4C8-CF7BFA7C58B2}" type="pres">
      <dgm:prSet presAssocID="{C0C05393-1980-4DE8-9769-E0FAC4179292}" presName="FourNodes_2_text" presStyleLbl="node1" presStyleIdx="3" presStyleCnt="4">
        <dgm:presLayoutVars>
          <dgm:bulletEnabled val="1"/>
        </dgm:presLayoutVars>
      </dgm:prSet>
      <dgm:spPr/>
    </dgm:pt>
    <dgm:pt modelId="{5183F38E-55D8-4184-8685-D241E68A11F8}" type="pres">
      <dgm:prSet presAssocID="{C0C05393-1980-4DE8-9769-E0FAC4179292}" presName="FourNodes_3_text" presStyleLbl="node1" presStyleIdx="3" presStyleCnt="4">
        <dgm:presLayoutVars>
          <dgm:bulletEnabled val="1"/>
        </dgm:presLayoutVars>
      </dgm:prSet>
      <dgm:spPr/>
    </dgm:pt>
    <dgm:pt modelId="{6B3AACB8-6A9E-4B35-9519-B89040A7898A}" type="pres">
      <dgm:prSet presAssocID="{C0C05393-1980-4DE8-9769-E0FAC417929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54E310D-D3D7-4935-A4EB-DFBB26B233B6}" type="presOf" srcId="{DE919F47-67F2-4E39-A999-DB444514D085}" destId="{3A25AF06-4087-4D47-A4C8-CF7BFA7C58B2}" srcOrd="1" destOrd="0" presId="urn:microsoft.com/office/officeart/2005/8/layout/vProcess5"/>
    <dgm:cxn modelId="{74CD3216-0F5A-4218-BF31-8EA077BBC40D}" type="presOf" srcId="{2B38757E-F906-429F-BF22-F7139A20DC72}" destId="{AC7C5A12-1884-478A-8626-71AE21BE5E9F}" srcOrd="0" destOrd="0" presId="urn:microsoft.com/office/officeart/2005/8/layout/vProcess5"/>
    <dgm:cxn modelId="{BA03A81D-582B-41C6-BBDF-0D55B9616F44}" type="presOf" srcId="{4E2288C8-6AAE-44C5-9454-BBB845AA2630}" destId="{6B3AACB8-6A9E-4B35-9519-B89040A7898A}" srcOrd="1" destOrd="0" presId="urn:microsoft.com/office/officeart/2005/8/layout/vProcess5"/>
    <dgm:cxn modelId="{5F03172B-43D3-46E9-9446-528C2C8A1007}" type="presOf" srcId="{4E2288C8-6AAE-44C5-9454-BBB845AA2630}" destId="{4735AC69-B927-48E9-BB18-B2D3DA2A331B}" srcOrd="0" destOrd="0" presId="urn:microsoft.com/office/officeart/2005/8/layout/vProcess5"/>
    <dgm:cxn modelId="{D821F52F-4C87-4146-A4F7-08F4068AD6D6}" type="presOf" srcId="{A26FC93C-5F69-40B2-AE5B-22A81E043483}" destId="{1D519B02-9DED-4794-9EC3-E318B60A7ECB}" srcOrd="0" destOrd="0" presId="urn:microsoft.com/office/officeart/2005/8/layout/vProcess5"/>
    <dgm:cxn modelId="{CC00D133-2AF2-4160-90EE-5F80E5BAF984}" type="presOf" srcId="{C0C05393-1980-4DE8-9769-E0FAC4179292}" destId="{FE7C32D0-2106-4198-9F0F-CE53A0391A41}" srcOrd="0" destOrd="0" presId="urn:microsoft.com/office/officeart/2005/8/layout/vProcess5"/>
    <dgm:cxn modelId="{D3E4553C-9AEA-4740-80C5-0386A8451693}" type="presOf" srcId="{DE919F47-67F2-4E39-A999-DB444514D085}" destId="{60241996-FFE1-48F6-9FE6-4387FA6FDDE0}" srcOrd="0" destOrd="0" presId="urn:microsoft.com/office/officeart/2005/8/layout/vProcess5"/>
    <dgm:cxn modelId="{8C5E505B-6064-42F6-8D6E-7B9E96D3B0B9}" srcId="{C0C05393-1980-4DE8-9769-E0FAC4179292}" destId="{1739C4EA-8BCF-4812-9F12-2EB78DCD7348}" srcOrd="0" destOrd="0" parTransId="{15F933EC-063B-412E-A90B-839313D55DC8}" sibTransId="{2B38757E-F906-429F-BF22-F7139A20DC72}"/>
    <dgm:cxn modelId="{55BB436C-065D-4B72-8F50-6CE05B85E4B7}" srcId="{C0C05393-1980-4DE8-9769-E0FAC4179292}" destId="{DE919F47-67F2-4E39-A999-DB444514D085}" srcOrd="1" destOrd="0" parTransId="{134826A5-7A96-4AF7-B728-88F992B01921}" sibTransId="{A26FC93C-5F69-40B2-AE5B-22A81E043483}"/>
    <dgm:cxn modelId="{1C59C76C-AB36-4336-AEB9-E045D6FBEF17}" type="presOf" srcId="{0E1710CB-AB33-4157-A104-D2DD3F794A88}" destId="{521F258B-83E6-4695-9120-B20DF9286380}" srcOrd="0" destOrd="0" presId="urn:microsoft.com/office/officeart/2005/8/layout/vProcess5"/>
    <dgm:cxn modelId="{14080A81-CAE4-4840-AD5D-063F74D1A687}" type="presOf" srcId="{1739C4EA-8BCF-4812-9F12-2EB78DCD7348}" destId="{E3F4DFA0-0A84-4E3D-9FE7-E694DA77D7E6}" srcOrd="0" destOrd="0" presId="urn:microsoft.com/office/officeart/2005/8/layout/vProcess5"/>
    <dgm:cxn modelId="{FE54F582-0921-4644-9820-7474232E3A73}" type="presOf" srcId="{ED5D8A86-2A1E-4480-9E69-C6E948496D91}" destId="{8CC8F4DC-1C24-4762-B719-181D9BC39A4C}" srcOrd="0" destOrd="0" presId="urn:microsoft.com/office/officeart/2005/8/layout/vProcess5"/>
    <dgm:cxn modelId="{01AC5B86-393A-4403-8C82-E5FF59099AAB}" srcId="{C0C05393-1980-4DE8-9769-E0FAC4179292}" destId="{4E2288C8-6AAE-44C5-9454-BBB845AA2630}" srcOrd="3" destOrd="0" parTransId="{FB1D6983-53DB-4989-AD89-BCFF576E23BC}" sibTransId="{4D40909F-B870-4E07-B390-EABD3983AD30}"/>
    <dgm:cxn modelId="{71836A92-E895-47D1-A9DE-3B2B5FD9D378}" srcId="{C0C05393-1980-4DE8-9769-E0FAC4179292}" destId="{0E1710CB-AB33-4157-A104-D2DD3F794A88}" srcOrd="2" destOrd="0" parTransId="{3B22A23D-1F2F-49EA-92CF-B302F00173CA}" sibTransId="{ED5D8A86-2A1E-4480-9E69-C6E948496D91}"/>
    <dgm:cxn modelId="{8DC0DDA8-CB84-480E-99F4-AD73099AA57D}" type="presOf" srcId="{0E1710CB-AB33-4157-A104-D2DD3F794A88}" destId="{5183F38E-55D8-4184-8685-D241E68A11F8}" srcOrd="1" destOrd="0" presId="urn:microsoft.com/office/officeart/2005/8/layout/vProcess5"/>
    <dgm:cxn modelId="{FE963CDC-FC37-49B2-A573-417527674BC5}" type="presOf" srcId="{1739C4EA-8BCF-4812-9F12-2EB78DCD7348}" destId="{361D2FA1-769F-4AAE-A48A-0DDAC928240A}" srcOrd="1" destOrd="0" presId="urn:microsoft.com/office/officeart/2005/8/layout/vProcess5"/>
    <dgm:cxn modelId="{3ACD3FD4-7CF0-41AC-A46E-BEADFEA56975}" type="presParOf" srcId="{FE7C32D0-2106-4198-9F0F-CE53A0391A41}" destId="{C37C5FAF-87A2-4C38-BC26-8794FE6EA05B}" srcOrd="0" destOrd="0" presId="urn:microsoft.com/office/officeart/2005/8/layout/vProcess5"/>
    <dgm:cxn modelId="{6C8ACE30-64E3-4D22-A822-41CEC946724A}" type="presParOf" srcId="{FE7C32D0-2106-4198-9F0F-CE53A0391A41}" destId="{E3F4DFA0-0A84-4E3D-9FE7-E694DA77D7E6}" srcOrd="1" destOrd="0" presId="urn:microsoft.com/office/officeart/2005/8/layout/vProcess5"/>
    <dgm:cxn modelId="{01C29214-3B9C-417E-B050-B8C02DFAB02A}" type="presParOf" srcId="{FE7C32D0-2106-4198-9F0F-CE53A0391A41}" destId="{60241996-FFE1-48F6-9FE6-4387FA6FDDE0}" srcOrd="2" destOrd="0" presId="urn:microsoft.com/office/officeart/2005/8/layout/vProcess5"/>
    <dgm:cxn modelId="{84BD6151-7550-420D-8CDC-4A354F52245C}" type="presParOf" srcId="{FE7C32D0-2106-4198-9F0F-CE53A0391A41}" destId="{521F258B-83E6-4695-9120-B20DF9286380}" srcOrd="3" destOrd="0" presId="urn:microsoft.com/office/officeart/2005/8/layout/vProcess5"/>
    <dgm:cxn modelId="{8E4C5CB2-F8DA-4813-AA72-4AA5CB581766}" type="presParOf" srcId="{FE7C32D0-2106-4198-9F0F-CE53A0391A41}" destId="{4735AC69-B927-48E9-BB18-B2D3DA2A331B}" srcOrd="4" destOrd="0" presId="urn:microsoft.com/office/officeart/2005/8/layout/vProcess5"/>
    <dgm:cxn modelId="{05580548-D241-4CFF-B769-180B4248FF6D}" type="presParOf" srcId="{FE7C32D0-2106-4198-9F0F-CE53A0391A41}" destId="{AC7C5A12-1884-478A-8626-71AE21BE5E9F}" srcOrd="5" destOrd="0" presId="urn:microsoft.com/office/officeart/2005/8/layout/vProcess5"/>
    <dgm:cxn modelId="{F234FAD2-8EE3-4B4A-BFD2-2B171240CBE2}" type="presParOf" srcId="{FE7C32D0-2106-4198-9F0F-CE53A0391A41}" destId="{1D519B02-9DED-4794-9EC3-E318B60A7ECB}" srcOrd="6" destOrd="0" presId="urn:microsoft.com/office/officeart/2005/8/layout/vProcess5"/>
    <dgm:cxn modelId="{370A3AB3-6588-4BDC-B068-BE3476D0E979}" type="presParOf" srcId="{FE7C32D0-2106-4198-9F0F-CE53A0391A41}" destId="{8CC8F4DC-1C24-4762-B719-181D9BC39A4C}" srcOrd="7" destOrd="0" presId="urn:microsoft.com/office/officeart/2005/8/layout/vProcess5"/>
    <dgm:cxn modelId="{9ABBF63F-F6E0-41C4-B5D0-B2D429ED64DF}" type="presParOf" srcId="{FE7C32D0-2106-4198-9F0F-CE53A0391A41}" destId="{361D2FA1-769F-4AAE-A48A-0DDAC928240A}" srcOrd="8" destOrd="0" presId="urn:microsoft.com/office/officeart/2005/8/layout/vProcess5"/>
    <dgm:cxn modelId="{8281182D-5413-4443-A4FD-F2A0B67ABAA7}" type="presParOf" srcId="{FE7C32D0-2106-4198-9F0F-CE53A0391A41}" destId="{3A25AF06-4087-4D47-A4C8-CF7BFA7C58B2}" srcOrd="9" destOrd="0" presId="urn:microsoft.com/office/officeart/2005/8/layout/vProcess5"/>
    <dgm:cxn modelId="{7E82CD4D-A6F7-46EA-8A31-B1A757FDE19F}" type="presParOf" srcId="{FE7C32D0-2106-4198-9F0F-CE53A0391A41}" destId="{5183F38E-55D8-4184-8685-D241E68A11F8}" srcOrd="10" destOrd="0" presId="urn:microsoft.com/office/officeart/2005/8/layout/vProcess5"/>
    <dgm:cxn modelId="{2C876ECF-F667-4552-8EEA-3928E92371DE}" type="presParOf" srcId="{FE7C32D0-2106-4198-9F0F-CE53A0391A41}" destId="{6B3AACB8-6A9E-4B35-9519-B89040A7898A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5D4815-9158-4E33-BA7E-2E8F1DEF3C98}" type="doc">
      <dgm:prSet loTypeId="urn:microsoft.com/office/officeart/2005/8/layout/cycle4" loCatId="matrix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2E6F618-6A55-4AF5-A6F6-C8AC1BC2B142}">
      <dgm:prSet phldrT="[Text]"/>
      <dgm:spPr/>
      <dgm:t>
        <a:bodyPr/>
        <a:lstStyle/>
        <a:p>
          <a:pPr>
            <a:buNone/>
          </a:pPr>
          <a:r>
            <a:rPr lang="en-US" b="1" dirty="0"/>
            <a:t>Technical Feasibility</a:t>
          </a:r>
          <a:endParaRPr lang="en-US" dirty="0"/>
        </a:p>
      </dgm:t>
    </dgm:pt>
    <dgm:pt modelId="{72520DF7-17DC-44A5-A407-74D0A52533CA}" type="parTrans" cxnId="{7EC6692A-1DEC-4C7D-8D4E-6C5526E39AC6}">
      <dgm:prSet/>
      <dgm:spPr/>
      <dgm:t>
        <a:bodyPr/>
        <a:lstStyle/>
        <a:p>
          <a:endParaRPr lang="en-US"/>
        </a:p>
      </dgm:t>
    </dgm:pt>
    <dgm:pt modelId="{A319C30B-FD48-4E67-A405-A91AC41027FF}" type="sibTrans" cxnId="{7EC6692A-1DEC-4C7D-8D4E-6C5526E39AC6}">
      <dgm:prSet/>
      <dgm:spPr/>
      <dgm:t>
        <a:bodyPr/>
        <a:lstStyle/>
        <a:p>
          <a:endParaRPr lang="en-US"/>
        </a:p>
      </dgm:t>
    </dgm:pt>
    <dgm:pt modelId="{91B348DE-7605-421E-BA7D-B2BEE1E19636}">
      <dgm:prSet phldrT="[Text]" custT="1"/>
      <dgm:spPr/>
      <dgm:t>
        <a:bodyPr/>
        <a:lstStyle/>
        <a:p>
          <a:pPr>
            <a:buNone/>
          </a:pPr>
          <a:endParaRPr lang="en-US" sz="1100" dirty="0"/>
        </a:p>
      </dgm:t>
    </dgm:pt>
    <dgm:pt modelId="{64C5B341-084A-4521-9544-B065852D041D}" type="parTrans" cxnId="{F2A5FC07-545C-4C07-BAF1-EFC7C0C63BCA}">
      <dgm:prSet/>
      <dgm:spPr/>
      <dgm:t>
        <a:bodyPr/>
        <a:lstStyle/>
        <a:p>
          <a:endParaRPr lang="en-US"/>
        </a:p>
      </dgm:t>
    </dgm:pt>
    <dgm:pt modelId="{C043ACE0-9FEC-48F9-A254-9C6D48C8F994}" type="sibTrans" cxnId="{F2A5FC07-545C-4C07-BAF1-EFC7C0C63BCA}">
      <dgm:prSet/>
      <dgm:spPr/>
      <dgm:t>
        <a:bodyPr/>
        <a:lstStyle/>
        <a:p>
          <a:endParaRPr lang="en-US"/>
        </a:p>
      </dgm:t>
    </dgm:pt>
    <dgm:pt modelId="{81A3DA0E-4841-4279-A475-AF1EE67E8DD1}">
      <dgm:prSet phldrT="[Text]" custT="1"/>
      <dgm:spPr/>
      <dgm:t>
        <a:bodyPr/>
        <a:lstStyle/>
        <a:p>
          <a:pPr>
            <a:buNone/>
          </a:pPr>
          <a:endParaRPr lang="en-US" sz="1200" dirty="0"/>
        </a:p>
      </dgm:t>
    </dgm:pt>
    <dgm:pt modelId="{43272BAA-386D-430D-BC54-654698776813}" type="parTrans" cxnId="{EDDBE747-7579-49C6-A9C4-085FFE0DEAC9}">
      <dgm:prSet/>
      <dgm:spPr/>
      <dgm:t>
        <a:bodyPr/>
        <a:lstStyle/>
        <a:p>
          <a:endParaRPr lang="en-US"/>
        </a:p>
      </dgm:t>
    </dgm:pt>
    <dgm:pt modelId="{4BAA9911-8F2D-4226-A003-B5109F53EF1F}" type="sibTrans" cxnId="{EDDBE747-7579-49C6-A9C4-085FFE0DEAC9}">
      <dgm:prSet/>
      <dgm:spPr/>
      <dgm:t>
        <a:bodyPr/>
        <a:lstStyle/>
        <a:p>
          <a:endParaRPr lang="en-US"/>
        </a:p>
      </dgm:t>
    </dgm:pt>
    <dgm:pt modelId="{F29FB6A2-874E-48F1-B630-7C4818823AA9}">
      <dgm:prSet phldrT="[Text]" custT="1"/>
      <dgm:spPr/>
      <dgm:t>
        <a:bodyPr/>
        <a:lstStyle/>
        <a:p>
          <a:pPr>
            <a:buNone/>
          </a:pPr>
          <a:r>
            <a:rPr lang="en-US" sz="1200" dirty="0"/>
            <a:t>It's cost-effective as it uses existing email services, and it solves a huge problem (quantum threats), so there's clear demand.</a:t>
          </a:r>
        </a:p>
      </dgm:t>
    </dgm:pt>
    <dgm:pt modelId="{343EA822-9B10-435A-9924-4F0FA0247789}" type="parTrans" cxnId="{90B17D7B-DA38-4C13-91AC-5B1AA34AD636}">
      <dgm:prSet/>
      <dgm:spPr/>
      <dgm:t>
        <a:bodyPr/>
        <a:lstStyle/>
        <a:p>
          <a:endParaRPr lang="en-US"/>
        </a:p>
      </dgm:t>
    </dgm:pt>
    <dgm:pt modelId="{1D3F59DA-CCF9-415C-9D16-6279B3A7B327}" type="sibTrans" cxnId="{90B17D7B-DA38-4C13-91AC-5B1AA34AD636}">
      <dgm:prSet/>
      <dgm:spPr/>
      <dgm:t>
        <a:bodyPr/>
        <a:lstStyle/>
        <a:p>
          <a:endParaRPr lang="en-US"/>
        </a:p>
      </dgm:t>
    </dgm:pt>
    <dgm:pt modelId="{3F4246FE-BA20-434B-B5D2-382C367B72CE}">
      <dgm:prSet phldrT="[Text]"/>
      <dgm:spPr/>
      <dgm:t>
        <a:bodyPr/>
        <a:lstStyle/>
        <a:p>
          <a:r>
            <a:rPr lang="en-US" dirty="0"/>
            <a:t>Time Feasibility</a:t>
          </a:r>
        </a:p>
      </dgm:t>
    </dgm:pt>
    <dgm:pt modelId="{C4A4824E-BB68-49A4-BF10-F50900E58C9F}" type="parTrans" cxnId="{A799E8FD-7B28-4BA7-8699-19314F68B48B}">
      <dgm:prSet/>
      <dgm:spPr/>
      <dgm:t>
        <a:bodyPr/>
        <a:lstStyle/>
        <a:p>
          <a:endParaRPr lang="en-US"/>
        </a:p>
      </dgm:t>
    </dgm:pt>
    <dgm:pt modelId="{C0893115-6181-411E-9A71-1D635E424CAC}" type="sibTrans" cxnId="{A799E8FD-7B28-4BA7-8699-19314F68B48B}">
      <dgm:prSet/>
      <dgm:spPr/>
      <dgm:t>
        <a:bodyPr/>
        <a:lstStyle/>
        <a:p>
          <a:endParaRPr lang="en-US"/>
        </a:p>
      </dgm:t>
    </dgm:pt>
    <dgm:pt modelId="{DFCABA35-1F50-46C3-83D9-79A44B38B47C}">
      <dgm:prSet phldrT="[Text]" custT="1"/>
      <dgm:spPr/>
      <dgm:t>
        <a:bodyPr/>
        <a:lstStyle/>
        <a:p>
          <a:pPr>
            <a:buNone/>
          </a:pPr>
          <a:endParaRPr lang="en-US" sz="1200" dirty="0"/>
        </a:p>
      </dgm:t>
    </dgm:pt>
    <dgm:pt modelId="{CA9CFC47-6A15-4979-8703-E23CAA893992}" type="parTrans" cxnId="{3AB1A038-947E-4FCC-B096-4ADB806CFB5D}">
      <dgm:prSet/>
      <dgm:spPr/>
      <dgm:t>
        <a:bodyPr/>
        <a:lstStyle/>
        <a:p>
          <a:endParaRPr lang="en-US"/>
        </a:p>
      </dgm:t>
    </dgm:pt>
    <dgm:pt modelId="{E0356A4C-19B0-4D39-BBAF-E9CF25234772}" type="sibTrans" cxnId="{3AB1A038-947E-4FCC-B096-4ADB806CFB5D}">
      <dgm:prSet/>
      <dgm:spPr/>
      <dgm:t>
        <a:bodyPr/>
        <a:lstStyle/>
        <a:p>
          <a:endParaRPr lang="en-US"/>
        </a:p>
      </dgm:t>
    </dgm:pt>
    <dgm:pt modelId="{5B6B0BD3-49B4-4914-A558-97661024A149}">
      <dgm:prSet/>
      <dgm:spPr/>
      <dgm:t>
        <a:bodyPr/>
        <a:lstStyle/>
        <a:p>
          <a:endParaRPr lang="en-US" sz="800" dirty="0"/>
        </a:p>
      </dgm:t>
    </dgm:pt>
    <dgm:pt modelId="{D32D1656-AF84-411C-AD2B-40D8B86F3349}" type="parTrans" cxnId="{3041E30D-B17E-4239-BB27-7201957E1A08}">
      <dgm:prSet/>
      <dgm:spPr/>
      <dgm:t>
        <a:bodyPr/>
        <a:lstStyle/>
        <a:p>
          <a:endParaRPr lang="en-US"/>
        </a:p>
      </dgm:t>
    </dgm:pt>
    <dgm:pt modelId="{CBF4C848-54CA-4C5C-9A59-997F9B2E5F4B}" type="sibTrans" cxnId="{3041E30D-B17E-4239-BB27-7201957E1A08}">
      <dgm:prSet/>
      <dgm:spPr/>
      <dgm:t>
        <a:bodyPr/>
        <a:lstStyle/>
        <a:p>
          <a:endParaRPr lang="en-US"/>
        </a:p>
      </dgm:t>
    </dgm:pt>
    <dgm:pt modelId="{C1E09DE2-ADF6-402D-8A53-32DF7C1EB7F2}">
      <dgm:prSet phldrT="[Text]"/>
      <dgm:spPr/>
      <dgm:t>
        <a:bodyPr/>
        <a:lstStyle/>
        <a:p>
          <a:r>
            <a:rPr lang="en-US" dirty="0"/>
            <a:t>Economic Feasibility.</a:t>
          </a:r>
        </a:p>
      </dgm:t>
    </dgm:pt>
    <dgm:pt modelId="{513F2B6A-53C3-4E0B-8B06-06625ADD8514}" type="sibTrans" cxnId="{0E70630C-1FA0-4491-991E-CB079A3774E9}">
      <dgm:prSet/>
      <dgm:spPr/>
      <dgm:t>
        <a:bodyPr/>
        <a:lstStyle/>
        <a:p>
          <a:endParaRPr lang="en-US"/>
        </a:p>
      </dgm:t>
    </dgm:pt>
    <dgm:pt modelId="{418B8A8C-305E-403B-A726-BF80D88EE25F}" type="parTrans" cxnId="{0E70630C-1FA0-4491-991E-CB079A3774E9}">
      <dgm:prSet/>
      <dgm:spPr/>
      <dgm:t>
        <a:bodyPr/>
        <a:lstStyle/>
        <a:p>
          <a:endParaRPr lang="en-US"/>
        </a:p>
      </dgm:t>
    </dgm:pt>
    <dgm:pt modelId="{AFCF42B3-93BE-4533-9150-0CA55F3E176F}">
      <dgm:prSet phldrT="[Text]"/>
      <dgm:spPr/>
      <dgm:t>
        <a:bodyPr/>
        <a:lstStyle/>
        <a:p>
          <a:r>
            <a:rPr lang="en-US" dirty="0"/>
            <a:t>Operational Feasibility</a:t>
          </a:r>
        </a:p>
      </dgm:t>
    </dgm:pt>
    <dgm:pt modelId="{1877921D-B776-4CFE-8DEB-2B000A10D49E}" type="sibTrans" cxnId="{5B598146-50CD-42E5-A8CC-3E5C8EA4536B}">
      <dgm:prSet/>
      <dgm:spPr/>
      <dgm:t>
        <a:bodyPr/>
        <a:lstStyle/>
        <a:p>
          <a:endParaRPr lang="en-US"/>
        </a:p>
      </dgm:t>
    </dgm:pt>
    <dgm:pt modelId="{986A87F1-5FC4-4E96-AE7B-100C985C7A37}" type="parTrans" cxnId="{5B598146-50CD-42E5-A8CC-3E5C8EA4536B}">
      <dgm:prSet/>
      <dgm:spPr/>
      <dgm:t>
        <a:bodyPr/>
        <a:lstStyle/>
        <a:p>
          <a:endParaRPr lang="en-US"/>
        </a:p>
      </dgm:t>
    </dgm:pt>
    <dgm:pt modelId="{173A1EAC-E944-439E-98B6-7598887D70D4}">
      <dgm:prSet custT="1"/>
      <dgm:spPr/>
      <dgm:t>
        <a:bodyPr/>
        <a:lstStyle/>
        <a:p>
          <a:pPr>
            <a:buNone/>
          </a:pPr>
          <a:r>
            <a:rPr lang="en-US" sz="1100" dirty="0"/>
            <a:t>We use proven industry standards (ETSI QKD API) and standard email tech  (SMTP/IMAP). We can simulate the QKD key system now, making it fully testable.
</a:t>
          </a:r>
          <a:endParaRPr lang="en-IN" sz="1100" dirty="0"/>
        </a:p>
      </dgm:t>
    </dgm:pt>
    <dgm:pt modelId="{CE651E31-DC3F-45C4-95F9-D72867FB0B01}" type="parTrans" cxnId="{2D56C6A5-B219-41DF-A1E9-B74AC47EA05A}">
      <dgm:prSet/>
      <dgm:spPr/>
      <dgm:t>
        <a:bodyPr/>
        <a:lstStyle/>
        <a:p>
          <a:endParaRPr lang="en-IN"/>
        </a:p>
      </dgm:t>
    </dgm:pt>
    <dgm:pt modelId="{E259D5EA-1A9B-4ECF-80DF-66E29E5B55B0}" type="sibTrans" cxnId="{2D56C6A5-B219-41DF-A1E9-B74AC47EA05A}">
      <dgm:prSet/>
      <dgm:spPr/>
      <dgm:t>
        <a:bodyPr/>
        <a:lstStyle/>
        <a:p>
          <a:endParaRPr lang="en-IN"/>
        </a:p>
      </dgm:t>
    </dgm:pt>
    <dgm:pt modelId="{9A56FBF6-143B-400C-95B1-D8449DD93BF2}">
      <dgm:prSet custT="1"/>
      <dgm:spPr/>
      <dgm:t>
        <a:bodyPr/>
        <a:lstStyle/>
        <a:p>
          <a:pPr>
            <a:buNone/>
          </a:pPr>
          <a:r>
            <a:rPr lang="en-US" sz="1400" dirty="0"/>
            <a:t>It works like any email app, so users will find it easy to use daily.</a:t>
          </a:r>
          <a:endParaRPr lang="en-IN" sz="1400" dirty="0"/>
        </a:p>
      </dgm:t>
    </dgm:pt>
    <dgm:pt modelId="{C8B23C60-EF0C-4C0A-A5AA-B7ED7C562CE8}" type="parTrans" cxnId="{F69D9C60-6DCD-47E7-91A5-EE334FA81420}">
      <dgm:prSet/>
      <dgm:spPr/>
      <dgm:t>
        <a:bodyPr/>
        <a:lstStyle/>
        <a:p>
          <a:endParaRPr lang="en-IN"/>
        </a:p>
      </dgm:t>
    </dgm:pt>
    <dgm:pt modelId="{64AC1547-C0FC-444B-9C2A-8ECE58DDA7BF}" type="sibTrans" cxnId="{F69D9C60-6DCD-47E7-91A5-EE334FA81420}">
      <dgm:prSet/>
      <dgm:spPr/>
      <dgm:t>
        <a:bodyPr/>
        <a:lstStyle/>
        <a:p>
          <a:endParaRPr lang="en-IN"/>
        </a:p>
      </dgm:t>
    </dgm:pt>
    <dgm:pt modelId="{3A08CD63-284E-420F-9FA6-27049B043CF6}">
      <dgm:prSet custT="1"/>
      <dgm:spPr/>
      <dgm:t>
        <a:bodyPr/>
        <a:lstStyle/>
        <a:p>
          <a:pPr>
            <a:buNone/>
          </a:pPr>
          <a:r>
            <a:rPr lang="en-US" sz="1200" dirty="0"/>
            <a:t>We can build a working demo in the hackathon and quickly expand it afterward for real world scenarios.</a:t>
          </a:r>
          <a:endParaRPr lang="en-IN" sz="1200" dirty="0"/>
        </a:p>
      </dgm:t>
    </dgm:pt>
    <dgm:pt modelId="{537EA9C1-148D-4371-8F8E-9F7196DE2D3A}" type="parTrans" cxnId="{9B2F20B6-F9BF-419D-A9E3-F81B83B9CDBD}">
      <dgm:prSet/>
      <dgm:spPr/>
      <dgm:t>
        <a:bodyPr/>
        <a:lstStyle/>
        <a:p>
          <a:endParaRPr lang="en-IN"/>
        </a:p>
      </dgm:t>
    </dgm:pt>
    <dgm:pt modelId="{A0406499-896A-402A-813E-D9EE30DCFC02}" type="sibTrans" cxnId="{9B2F20B6-F9BF-419D-A9E3-F81B83B9CDBD}">
      <dgm:prSet/>
      <dgm:spPr/>
      <dgm:t>
        <a:bodyPr/>
        <a:lstStyle/>
        <a:p>
          <a:endParaRPr lang="en-IN"/>
        </a:p>
      </dgm:t>
    </dgm:pt>
    <dgm:pt modelId="{81A0576F-0D0A-4F9B-81F4-682AD9DA4765}" type="pres">
      <dgm:prSet presAssocID="{2B5D4815-9158-4E33-BA7E-2E8F1DEF3C98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E5D5D11F-C3BA-4135-9B5A-CB6DD6F9309F}" type="pres">
      <dgm:prSet presAssocID="{2B5D4815-9158-4E33-BA7E-2E8F1DEF3C98}" presName="children" presStyleCnt="0"/>
      <dgm:spPr/>
    </dgm:pt>
    <dgm:pt modelId="{E9410F76-1DAB-43B7-982A-768F2ABC6E34}" type="pres">
      <dgm:prSet presAssocID="{2B5D4815-9158-4E33-BA7E-2E8F1DEF3C98}" presName="child1group" presStyleCnt="0"/>
      <dgm:spPr/>
    </dgm:pt>
    <dgm:pt modelId="{2EE10014-012C-4C18-823C-7FAF0F7A9F38}" type="pres">
      <dgm:prSet presAssocID="{2B5D4815-9158-4E33-BA7E-2E8F1DEF3C98}" presName="child1" presStyleLbl="bgAcc1" presStyleIdx="0" presStyleCnt="4" custScaleX="112163" custScaleY="114756"/>
      <dgm:spPr/>
    </dgm:pt>
    <dgm:pt modelId="{CDE16713-AE6B-4906-85B4-D420C1E63005}" type="pres">
      <dgm:prSet presAssocID="{2B5D4815-9158-4E33-BA7E-2E8F1DEF3C98}" presName="child1Text" presStyleLbl="bgAcc1" presStyleIdx="0" presStyleCnt="4">
        <dgm:presLayoutVars>
          <dgm:bulletEnabled val="1"/>
        </dgm:presLayoutVars>
      </dgm:prSet>
      <dgm:spPr/>
    </dgm:pt>
    <dgm:pt modelId="{B139853E-CC38-4007-85D4-202766F6C304}" type="pres">
      <dgm:prSet presAssocID="{2B5D4815-9158-4E33-BA7E-2E8F1DEF3C98}" presName="child2group" presStyleCnt="0"/>
      <dgm:spPr/>
    </dgm:pt>
    <dgm:pt modelId="{764C2B92-1967-45EF-BF42-53A555ABD397}" type="pres">
      <dgm:prSet presAssocID="{2B5D4815-9158-4E33-BA7E-2E8F1DEF3C98}" presName="child2" presStyleLbl="bgAcc1" presStyleIdx="1" presStyleCnt="4" custScaleX="113771" custScaleY="120226"/>
      <dgm:spPr/>
    </dgm:pt>
    <dgm:pt modelId="{A772DC9F-3883-4537-99E9-49DC149E7A52}" type="pres">
      <dgm:prSet presAssocID="{2B5D4815-9158-4E33-BA7E-2E8F1DEF3C98}" presName="child2Text" presStyleLbl="bgAcc1" presStyleIdx="1" presStyleCnt="4">
        <dgm:presLayoutVars>
          <dgm:bulletEnabled val="1"/>
        </dgm:presLayoutVars>
      </dgm:prSet>
      <dgm:spPr/>
    </dgm:pt>
    <dgm:pt modelId="{929AEBC8-1594-4100-BD1E-88BAC9BCBD5D}" type="pres">
      <dgm:prSet presAssocID="{2B5D4815-9158-4E33-BA7E-2E8F1DEF3C98}" presName="child3group" presStyleCnt="0"/>
      <dgm:spPr/>
    </dgm:pt>
    <dgm:pt modelId="{A59BDEC7-7363-4B1F-860C-7D8506429954}" type="pres">
      <dgm:prSet presAssocID="{2B5D4815-9158-4E33-BA7E-2E8F1DEF3C98}" presName="child3" presStyleLbl="bgAcc1" presStyleIdx="2" presStyleCnt="4" custScaleX="108729" custScaleY="107639" custLinFactNeighborX="7145" custLinFactNeighborY="10550"/>
      <dgm:spPr/>
    </dgm:pt>
    <dgm:pt modelId="{72DEF6D7-7AD1-458D-8C02-E9E4427C3ADA}" type="pres">
      <dgm:prSet presAssocID="{2B5D4815-9158-4E33-BA7E-2E8F1DEF3C98}" presName="child3Text" presStyleLbl="bgAcc1" presStyleIdx="2" presStyleCnt="4">
        <dgm:presLayoutVars>
          <dgm:bulletEnabled val="1"/>
        </dgm:presLayoutVars>
      </dgm:prSet>
      <dgm:spPr/>
    </dgm:pt>
    <dgm:pt modelId="{932A6A53-907F-48DC-AF29-6112D02E2533}" type="pres">
      <dgm:prSet presAssocID="{2B5D4815-9158-4E33-BA7E-2E8F1DEF3C98}" presName="child4group" presStyleCnt="0"/>
      <dgm:spPr/>
    </dgm:pt>
    <dgm:pt modelId="{0D068489-A105-4455-9728-077EA99F613F}" type="pres">
      <dgm:prSet presAssocID="{2B5D4815-9158-4E33-BA7E-2E8F1DEF3C98}" presName="child4" presStyleLbl="bgAcc1" presStyleIdx="3" presStyleCnt="4" custScaleX="111074" custScaleY="107008" custLinFactNeighborX="-2585" custLinFactNeighborY="9143"/>
      <dgm:spPr/>
    </dgm:pt>
    <dgm:pt modelId="{806A7FC3-9DA1-4638-9A12-B937F539ECAC}" type="pres">
      <dgm:prSet presAssocID="{2B5D4815-9158-4E33-BA7E-2E8F1DEF3C98}" presName="child4Text" presStyleLbl="bgAcc1" presStyleIdx="3" presStyleCnt="4">
        <dgm:presLayoutVars>
          <dgm:bulletEnabled val="1"/>
        </dgm:presLayoutVars>
      </dgm:prSet>
      <dgm:spPr/>
    </dgm:pt>
    <dgm:pt modelId="{2080D404-AD8B-4568-A4E8-9BA19EC0F6E0}" type="pres">
      <dgm:prSet presAssocID="{2B5D4815-9158-4E33-BA7E-2E8F1DEF3C98}" presName="childPlaceholder" presStyleCnt="0"/>
      <dgm:spPr/>
    </dgm:pt>
    <dgm:pt modelId="{91D02E56-7891-47B8-B233-3EE3E57F30D1}" type="pres">
      <dgm:prSet presAssocID="{2B5D4815-9158-4E33-BA7E-2E8F1DEF3C98}" presName="circle" presStyleCnt="0"/>
      <dgm:spPr/>
    </dgm:pt>
    <dgm:pt modelId="{54D2EA33-AFED-44BB-BC23-8AC893073327}" type="pres">
      <dgm:prSet presAssocID="{2B5D4815-9158-4E33-BA7E-2E8F1DEF3C98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4E3E126D-C9B4-431B-BA4B-AECBD0E92106}" type="pres">
      <dgm:prSet presAssocID="{2B5D4815-9158-4E33-BA7E-2E8F1DEF3C98}" presName="quadrant2" presStyleLbl="node1" presStyleIdx="1" presStyleCnt="4" custScaleX="95017" custScaleY="100985" custLinFactNeighborX="1037" custLinFactNeighborY="786">
        <dgm:presLayoutVars>
          <dgm:chMax val="1"/>
          <dgm:bulletEnabled val="1"/>
        </dgm:presLayoutVars>
      </dgm:prSet>
      <dgm:spPr/>
    </dgm:pt>
    <dgm:pt modelId="{68F1C3F0-8E52-4954-B62E-BF8EF4616B75}" type="pres">
      <dgm:prSet presAssocID="{2B5D4815-9158-4E33-BA7E-2E8F1DEF3C98}" presName="quadrant3" presStyleLbl="node1" presStyleIdx="2" presStyleCnt="4" custScaleX="94196" custScaleY="97167" custLinFactNeighborX="1913" custLinFactNeighborY="0">
        <dgm:presLayoutVars>
          <dgm:chMax val="1"/>
          <dgm:bulletEnabled val="1"/>
        </dgm:presLayoutVars>
      </dgm:prSet>
      <dgm:spPr/>
    </dgm:pt>
    <dgm:pt modelId="{A690B7FC-39B9-41EC-B8E7-788B6201FC74}" type="pres">
      <dgm:prSet presAssocID="{2B5D4815-9158-4E33-BA7E-2E8F1DEF3C98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73C27253-A897-408C-B710-47A92E38D44F}" type="pres">
      <dgm:prSet presAssocID="{2B5D4815-9158-4E33-BA7E-2E8F1DEF3C98}" presName="quadrantPlaceholder" presStyleCnt="0"/>
      <dgm:spPr/>
    </dgm:pt>
    <dgm:pt modelId="{488924A7-CE98-435E-B073-37803D42DE2C}" type="pres">
      <dgm:prSet presAssocID="{2B5D4815-9158-4E33-BA7E-2E8F1DEF3C98}" presName="center1" presStyleLbl="fgShp" presStyleIdx="0" presStyleCnt="2"/>
      <dgm:spPr/>
    </dgm:pt>
    <dgm:pt modelId="{88E01E0A-A391-4D41-901A-64BD0F1C0778}" type="pres">
      <dgm:prSet presAssocID="{2B5D4815-9158-4E33-BA7E-2E8F1DEF3C98}" presName="center2" presStyleLbl="fgShp" presStyleIdx="1" presStyleCnt="2"/>
      <dgm:spPr/>
    </dgm:pt>
  </dgm:ptLst>
  <dgm:cxnLst>
    <dgm:cxn modelId="{F2A5FC07-545C-4C07-BAF1-EFC7C0C63BCA}" srcId="{92E6F618-6A55-4AF5-A6F6-C8AC1BC2B142}" destId="{91B348DE-7605-421E-BA7D-B2BEE1E19636}" srcOrd="0" destOrd="0" parTransId="{64C5B341-084A-4521-9544-B065852D041D}" sibTransId="{C043ACE0-9FEC-48F9-A254-9C6D48C8F994}"/>
    <dgm:cxn modelId="{0E70630C-1FA0-4491-991E-CB079A3774E9}" srcId="{2B5D4815-9158-4E33-BA7E-2E8F1DEF3C98}" destId="{C1E09DE2-ADF6-402D-8A53-32DF7C1EB7F2}" srcOrd="2" destOrd="0" parTransId="{418B8A8C-305E-403B-A726-BF80D88EE25F}" sibTransId="{513F2B6A-53C3-4E0B-8B06-06625ADD8514}"/>
    <dgm:cxn modelId="{3041E30D-B17E-4239-BB27-7201957E1A08}" srcId="{92E6F618-6A55-4AF5-A6F6-C8AC1BC2B142}" destId="{5B6B0BD3-49B4-4914-A558-97661024A149}" srcOrd="2" destOrd="0" parTransId="{D32D1656-AF84-411C-AD2B-40D8B86F3349}" sibTransId="{CBF4C848-54CA-4C5C-9A59-997F9B2E5F4B}"/>
    <dgm:cxn modelId="{7EC6692A-1DEC-4C7D-8D4E-6C5526E39AC6}" srcId="{2B5D4815-9158-4E33-BA7E-2E8F1DEF3C98}" destId="{92E6F618-6A55-4AF5-A6F6-C8AC1BC2B142}" srcOrd="0" destOrd="0" parTransId="{72520DF7-17DC-44A5-A407-74D0A52533CA}" sibTransId="{A319C30B-FD48-4E67-A405-A91AC41027FF}"/>
    <dgm:cxn modelId="{18CB0330-8955-41B2-A1C7-06A27F768728}" type="presOf" srcId="{C1E09DE2-ADF6-402D-8A53-32DF7C1EB7F2}" destId="{68F1C3F0-8E52-4954-B62E-BF8EF4616B75}" srcOrd="0" destOrd="0" presId="urn:microsoft.com/office/officeart/2005/8/layout/cycle4"/>
    <dgm:cxn modelId="{78D59731-6BD4-4F91-85A3-EFF485C2CF68}" type="presOf" srcId="{173A1EAC-E944-439E-98B6-7598887D70D4}" destId="{CDE16713-AE6B-4906-85B4-D420C1E63005}" srcOrd="1" destOrd="1" presId="urn:microsoft.com/office/officeart/2005/8/layout/cycle4"/>
    <dgm:cxn modelId="{E1056A33-A4F5-4EA6-AAD8-56AAD988C4A5}" type="presOf" srcId="{5B6B0BD3-49B4-4914-A558-97661024A149}" destId="{2EE10014-012C-4C18-823C-7FAF0F7A9F38}" srcOrd="0" destOrd="2" presId="urn:microsoft.com/office/officeart/2005/8/layout/cycle4"/>
    <dgm:cxn modelId="{5BC67538-1CDA-426B-BCE5-7B7EDCACB579}" type="presOf" srcId="{F29FB6A2-874E-48F1-B630-7C4818823AA9}" destId="{A59BDEC7-7363-4B1F-860C-7D8506429954}" srcOrd="0" destOrd="0" presId="urn:microsoft.com/office/officeart/2005/8/layout/cycle4"/>
    <dgm:cxn modelId="{3AB1A038-947E-4FCC-B096-4ADB806CFB5D}" srcId="{3F4246FE-BA20-434B-B5D2-382C367B72CE}" destId="{DFCABA35-1F50-46C3-83D9-79A44B38B47C}" srcOrd="0" destOrd="0" parTransId="{CA9CFC47-6A15-4979-8703-E23CAA893992}" sibTransId="{E0356A4C-19B0-4D39-BBAF-E9CF25234772}"/>
    <dgm:cxn modelId="{66E54339-8CA9-4B44-ACA1-D80033491C86}" type="presOf" srcId="{9A56FBF6-143B-400C-95B1-D8449DD93BF2}" destId="{A772DC9F-3883-4537-99E9-49DC149E7A52}" srcOrd="1" destOrd="1" presId="urn:microsoft.com/office/officeart/2005/8/layout/cycle4"/>
    <dgm:cxn modelId="{F69D9C60-6DCD-47E7-91A5-EE334FA81420}" srcId="{AFCF42B3-93BE-4533-9150-0CA55F3E176F}" destId="{9A56FBF6-143B-400C-95B1-D8449DD93BF2}" srcOrd="1" destOrd="0" parTransId="{C8B23C60-EF0C-4C0A-A5AA-B7ED7C562CE8}" sibTransId="{64AC1547-C0FC-444B-9C2A-8ECE58DDA7BF}"/>
    <dgm:cxn modelId="{5B598146-50CD-42E5-A8CC-3E5C8EA4536B}" srcId="{2B5D4815-9158-4E33-BA7E-2E8F1DEF3C98}" destId="{AFCF42B3-93BE-4533-9150-0CA55F3E176F}" srcOrd="1" destOrd="0" parTransId="{986A87F1-5FC4-4E96-AE7B-100C985C7A37}" sibTransId="{1877921D-B776-4CFE-8DEB-2B000A10D49E}"/>
    <dgm:cxn modelId="{EDDBE747-7579-49C6-A9C4-085FFE0DEAC9}" srcId="{AFCF42B3-93BE-4533-9150-0CA55F3E176F}" destId="{81A3DA0E-4841-4279-A475-AF1EE67E8DD1}" srcOrd="0" destOrd="0" parTransId="{43272BAA-386D-430D-BC54-654698776813}" sibTransId="{4BAA9911-8F2D-4226-A003-B5109F53EF1F}"/>
    <dgm:cxn modelId="{920A1749-BAC8-41EF-A031-010D0E195AF2}" type="presOf" srcId="{5B6B0BD3-49B4-4914-A558-97661024A149}" destId="{CDE16713-AE6B-4906-85B4-D420C1E63005}" srcOrd="1" destOrd="2" presId="urn:microsoft.com/office/officeart/2005/8/layout/cycle4"/>
    <dgm:cxn modelId="{C3246055-4511-472C-8AD9-B8E38682DDAC}" type="presOf" srcId="{3F4246FE-BA20-434B-B5D2-382C367B72CE}" destId="{A690B7FC-39B9-41EC-B8E7-788B6201FC74}" srcOrd="0" destOrd="0" presId="urn:microsoft.com/office/officeart/2005/8/layout/cycle4"/>
    <dgm:cxn modelId="{98C9C755-D969-47B8-A874-F817A280C885}" type="presOf" srcId="{9A56FBF6-143B-400C-95B1-D8449DD93BF2}" destId="{764C2B92-1967-45EF-BF42-53A555ABD397}" srcOrd="0" destOrd="1" presId="urn:microsoft.com/office/officeart/2005/8/layout/cycle4"/>
    <dgm:cxn modelId="{90B17D7B-DA38-4C13-91AC-5B1AA34AD636}" srcId="{C1E09DE2-ADF6-402D-8A53-32DF7C1EB7F2}" destId="{F29FB6A2-874E-48F1-B630-7C4818823AA9}" srcOrd="0" destOrd="0" parTransId="{343EA822-9B10-435A-9924-4F0FA0247789}" sibTransId="{1D3F59DA-CCF9-415C-9D16-6279B3A7B327}"/>
    <dgm:cxn modelId="{D7898684-992E-4A99-B29A-0F6586ADF186}" type="presOf" srcId="{3A08CD63-284E-420F-9FA6-27049B043CF6}" destId="{0D068489-A105-4455-9728-077EA99F613F}" srcOrd="0" destOrd="1" presId="urn:microsoft.com/office/officeart/2005/8/layout/cycle4"/>
    <dgm:cxn modelId="{5371608B-3A00-43F2-865A-93CAE6A14B33}" type="presOf" srcId="{AFCF42B3-93BE-4533-9150-0CA55F3E176F}" destId="{4E3E126D-C9B4-431B-BA4B-AECBD0E92106}" srcOrd="0" destOrd="0" presId="urn:microsoft.com/office/officeart/2005/8/layout/cycle4"/>
    <dgm:cxn modelId="{24174E90-084D-427A-9E42-BFCDAAEC00AE}" type="presOf" srcId="{81A3DA0E-4841-4279-A475-AF1EE67E8DD1}" destId="{A772DC9F-3883-4537-99E9-49DC149E7A52}" srcOrd="1" destOrd="0" presId="urn:microsoft.com/office/officeart/2005/8/layout/cycle4"/>
    <dgm:cxn modelId="{0848259A-9B47-4CE1-B8F7-11A1E8CE0A81}" type="presOf" srcId="{91B348DE-7605-421E-BA7D-B2BEE1E19636}" destId="{CDE16713-AE6B-4906-85B4-D420C1E63005}" srcOrd="1" destOrd="0" presId="urn:microsoft.com/office/officeart/2005/8/layout/cycle4"/>
    <dgm:cxn modelId="{54C3F19B-525F-4F78-BB3D-76A41903293F}" type="presOf" srcId="{3A08CD63-284E-420F-9FA6-27049B043CF6}" destId="{806A7FC3-9DA1-4638-9A12-B937F539ECAC}" srcOrd="1" destOrd="1" presId="urn:microsoft.com/office/officeart/2005/8/layout/cycle4"/>
    <dgm:cxn modelId="{A10918A2-AD0F-4058-843E-BA562F8C2831}" type="presOf" srcId="{DFCABA35-1F50-46C3-83D9-79A44B38B47C}" destId="{0D068489-A105-4455-9728-077EA99F613F}" srcOrd="0" destOrd="0" presId="urn:microsoft.com/office/officeart/2005/8/layout/cycle4"/>
    <dgm:cxn modelId="{561E18A3-2E1D-4AE5-8081-09851753D921}" type="presOf" srcId="{81A3DA0E-4841-4279-A475-AF1EE67E8DD1}" destId="{764C2B92-1967-45EF-BF42-53A555ABD397}" srcOrd="0" destOrd="0" presId="urn:microsoft.com/office/officeart/2005/8/layout/cycle4"/>
    <dgm:cxn modelId="{B013C8A3-98C5-4A43-BB6A-FF6699AA9805}" type="presOf" srcId="{2B5D4815-9158-4E33-BA7E-2E8F1DEF3C98}" destId="{81A0576F-0D0A-4F9B-81F4-682AD9DA4765}" srcOrd="0" destOrd="0" presId="urn:microsoft.com/office/officeart/2005/8/layout/cycle4"/>
    <dgm:cxn modelId="{2D56C6A5-B219-41DF-A1E9-B74AC47EA05A}" srcId="{92E6F618-6A55-4AF5-A6F6-C8AC1BC2B142}" destId="{173A1EAC-E944-439E-98B6-7598887D70D4}" srcOrd="1" destOrd="0" parTransId="{CE651E31-DC3F-45C4-95F9-D72867FB0B01}" sibTransId="{E259D5EA-1A9B-4ECF-80DF-66E29E5B55B0}"/>
    <dgm:cxn modelId="{D56B42AA-03F8-4C20-9DCF-9C2DF7CF50B1}" type="presOf" srcId="{F29FB6A2-874E-48F1-B630-7C4818823AA9}" destId="{72DEF6D7-7AD1-458D-8C02-E9E4427C3ADA}" srcOrd="1" destOrd="0" presId="urn:microsoft.com/office/officeart/2005/8/layout/cycle4"/>
    <dgm:cxn modelId="{9B2F20B6-F9BF-419D-A9E3-F81B83B9CDBD}" srcId="{3F4246FE-BA20-434B-B5D2-382C367B72CE}" destId="{3A08CD63-284E-420F-9FA6-27049B043CF6}" srcOrd="1" destOrd="0" parTransId="{537EA9C1-148D-4371-8F8E-9F7196DE2D3A}" sibTransId="{A0406499-896A-402A-813E-D9EE30DCFC02}"/>
    <dgm:cxn modelId="{5E91F0BF-8123-4F37-ADF6-44C1C22BB085}" type="presOf" srcId="{92E6F618-6A55-4AF5-A6F6-C8AC1BC2B142}" destId="{54D2EA33-AFED-44BB-BC23-8AC893073327}" srcOrd="0" destOrd="0" presId="urn:microsoft.com/office/officeart/2005/8/layout/cycle4"/>
    <dgm:cxn modelId="{4638A7C8-F33C-441D-B8FF-67EED4BDAFC0}" type="presOf" srcId="{DFCABA35-1F50-46C3-83D9-79A44B38B47C}" destId="{806A7FC3-9DA1-4638-9A12-B937F539ECAC}" srcOrd="1" destOrd="0" presId="urn:microsoft.com/office/officeart/2005/8/layout/cycle4"/>
    <dgm:cxn modelId="{18F8BEEA-C6BB-4E51-8464-DE89E208FDA5}" type="presOf" srcId="{173A1EAC-E944-439E-98B6-7598887D70D4}" destId="{2EE10014-012C-4C18-823C-7FAF0F7A9F38}" srcOrd="0" destOrd="1" presId="urn:microsoft.com/office/officeart/2005/8/layout/cycle4"/>
    <dgm:cxn modelId="{CF74B9EC-7511-43FC-8763-06D81F0ECFC1}" type="presOf" srcId="{91B348DE-7605-421E-BA7D-B2BEE1E19636}" destId="{2EE10014-012C-4C18-823C-7FAF0F7A9F38}" srcOrd="0" destOrd="0" presId="urn:microsoft.com/office/officeart/2005/8/layout/cycle4"/>
    <dgm:cxn modelId="{A799E8FD-7B28-4BA7-8699-19314F68B48B}" srcId="{2B5D4815-9158-4E33-BA7E-2E8F1DEF3C98}" destId="{3F4246FE-BA20-434B-B5D2-382C367B72CE}" srcOrd="3" destOrd="0" parTransId="{C4A4824E-BB68-49A4-BF10-F50900E58C9F}" sibTransId="{C0893115-6181-411E-9A71-1D635E424CAC}"/>
    <dgm:cxn modelId="{DE036A74-F1B6-4FB2-BA7F-B6534322AC96}" type="presParOf" srcId="{81A0576F-0D0A-4F9B-81F4-682AD9DA4765}" destId="{E5D5D11F-C3BA-4135-9B5A-CB6DD6F9309F}" srcOrd="0" destOrd="0" presId="urn:microsoft.com/office/officeart/2005/8/layout/cycle4"/>
    <dgm:cxn modelId="{513F7F36-5328-42F8-A45F-D5258FCAEB85}" type="presParOf" srcId="{E5D5D11F-C3BA-4135-9B5A-CB6DD6F9309F}" destId="{E9410F76-1DAB-43B7-982A-768F2ABC6E34}" srcOrd="0" destOrd="0" presId="urn:microsoft.com/office/officeart/2005/8/layout/cycle4"/>
    <dgm:cxn modelId="{CD9708BE-5DA5-4B1F-808A-A5A940D5CD14}" type="presParOf" srcId="{E9410F76-1DAB-43B7-982A-768F2ABC6E34}" destId="{2EE10014-012C-4C18-823C-7FAF0F7A9F38}" srcOrd="0" destOrd="0" presId="urn:microsoft.com/office/officeart/2005/8/layout/cycle4"/>
    <dgm:cxn modelId="{3F7DFA43-A49B-41B0-B702-D2D281C69440}" type="presParOf" srcId="{E9410F76-1DAB-43B7-982A-768F2ABC6E34}" destId="{CDE16713-AE6B-4906-85B4-D420C1E63005}" srcOrd="1" destOrd="0" presId="urn:microsoft.com/office/officeart/2005/8/layout/cycle4"/>
    <dgm:cxn modelId="{4C7E3710-C794-484E-8CC0-4DD3BA4F97B1}" type="presParOf" srcId="{E5D5D11F-C3BA-4135-9B5A-CB6DD6F9309F}" destId="{B139853E-CC38-4007-85D4-202766F6C304}" srcOrd="1" destOrd="0" presId="urn:microsoft.com/office/officeart/2005/8/layout/cycle4"/>
    <dgm:cxn modelId="{F0FA7727-40F0-4395-80AD-60A8A38D231F}" type="presParOf" srcId="{B139853E-CC38-4007-85D4-202766F6C304}" destId="{764C2B92-1967-45EF-BF42-53A555ABD397}" srcOrd="0" destOrd="0" presId="urn:microsoft.com/office/officeart/2005/8/layout/cycle4"/>
    <dgm:cxn modelId="{8C39E0B1-9955-4807-A2B9-70DE800640A2}" type="presParOf" srcId="{B139853E-CC38-4007-85D4-202766F6C304}" destId="{A772DC9F-3883-4537-99E9-49DC149E7A52}" srcOrd="1" destOrd="0" presId="urn:microsoft.com/office/officeart/2005/8/layout/cycle4"/>
    <dgm:cxn modelId="{BC2ED245-345D-4385-81D7-BC9B1384D23B}" type="presParOf" srcId="{E5D5D11F-C3BA-4135-9B5A-CB6DD6F9309F}" destId="{929AEBC8-1594-4100-BD1E-88BAC9BCBD5D}" srcOrd="2" destOrd="0" presId="urn:microsoft.com/office/officeart/2005/8/layout/cycle4"/>
    <dgm:cxn modelId="{D2851972-61C8-48B4-82F0-469BE6EF0F53}" type="presParOf" srcId="{929AEBC8-1594-4100-BD1E-88BAC9BCBD5D}" destId="{A59BDEC7-7363-4B1F-860C-7D8506429954}" srcOrd="0" destOrd="0" presId="urn:microsoft.com/office/officeart/2005/8/layout/cycle4"/>
    <dgm:cxn modelId="{36D81E55-6A3F-409B-83FD-C40DA3769758}" type="presParOf" srcId="{929AEBC8-1594-4100-BD1E-88BAC9BCBD5D}" destId="{72DEF6D7-7AD1-458D-8C02-E9E4427C3ADA}" srcOrd="1" destOrd="0" presId="urn:microsoft.com/office/officeart/2005/8/layout/cycle4"/>
    <dgm:cxn modelId="{F3BEBD34-3FA0-4613-B9D7-B594D0550B5D}" type="presParOf" srcId="{E5D5D11F-C3BA-4135-9B5A-CB6DD6F9309F}" destId="{932A6A53-907F-48DC-AF29-6112D02E2533}" srcOrd="3" destOrd="0" presId="urn:microsoft.com/office/officeart/2005/8/layout/cycle4"/>
    <dgm:cxn modelId="{DDE25173-4772-444A-A571-BE8DABC6CDBC}" type="presParOf" srcId="{932A6A53-907F-48DC-AF29-6112D02E2533}" destId="{0D068489-A105-4455-9728-077EA99F613F}" srcOrd="0" destOrd="0" presId="urn:microsoft.com/office/officeart/2005/8/layout/cycle4"/>
    <dgm:cxn modelId="{3FE280D5-1027-43E6-BD64-313552997143}" type="presParOf" srcId="{932A6A53-907F-48DC-AF29-6112D02E2533}" destId="{806A7FC3-9DA1-4638-9A12-B937F539ECAC}" srcOrd="1" destOrd="0" presId="urn:microsoft.com/office/officeart/2005/8/layout/cycle4"/>
    <dgm:cxn modelId="{F1C2C8DF-E48A-44D9-8C71-6D50D210C3D7}" type="presParOf" srcId="{E5D5D11F-C3BA-4135-9B5A-CB6DD6F9309F}" destId="{2080D404-AD8B-4568-A4E8-9BA19EC0F6E0}" srcOrd="4" destOrd="0" presId="urn:microsoft.com/office/officeart/2005/8/layout/cycle4"/>
    <dgm:cxn modelId="{12274B54-A7A3-4BDB-AB20-3B165B2B222D}" type="presParOf" srcId="{81A0576F-0D0A-4F9B-81F4-682AD9DA4765}" destId="{91D02E56-7891-47B8-B233-3EE3E57F30D1}" srcOrd="1" destOrd="0" presId="urn:microsoft.com/office/officeart/2005/8/layout/cycle4"/>
    <dgm:cxn modelId="{9283E961-1083-4395-9CC1-F8D1AB0CD93B}" type="presParOf" srcId="{91D02E56-7891-47B8-B233-3EE3E57F30D1}" destId="{54D2EA33-AFED-44BB-BC23-8AC893073327}" srcOrd="0" destOrd="0" presId="urn:microsoft.com/office/officeart/2005/8/layout/cycle4"/>
    <dgm:cxn modelId="{D4947E5C-22E3-478B-B3B9-D251FC8B2791}" type="presParOf" srcId="{91D02E56-7891-47B8-B233-3EE3E57F30D1}" destId="{4E3E126D-C9B4-431B-BA4B-AECBD0E92106}" srcOrd="1" destOrd="0" presId="urn:microsoft.com/office/officeart/2005/8/layout/cycle4"/>
    <dgm:cxn modelId="{E32E888B-3121-46EF-9DD6-F55D7C9F224C}" type="presParOf" srcId="{91D02E56-7891-47B8-B233-3EE3E57F30D1}" destId="{68F1C3F0-8E52-4954-B62E-BF8EF4616B75}" srcOrd="2" destOrd="0" presId="urn:microsoft.com/office/officeart/2005/8/layout/cycle4"/>
    <dgm:cxn modelId="{E4C7A6E6-AC8A-4E48-9074-DC454986D9E5}" type="presParOf" srcId="{91D02E56-7891-47B8-B233-3EE3E57F30D1}" destId="{A690B7FC-39B9-41EC-B8E7-788B6201FC74}" srcOrd="3" destOrd="0" presId="urn:microsoft.com/office/officeart/2005/8/layout/cycle4"/>
    <dgm:cxn modelId="{1628DB0F-914C-422E-9409-B0E1BA21A5C1}" type="presParOf" srcId="{91D02E56-7891-47B8-B233-3EE3E57F30D1}" destId="{73C27253-A897-408C-B710-47A92E38D44F}" srcOrd="4" destOrd="0" presId="urn:microsoft.com/office/officeart/2005/8/layout/cycle4"/>
    <dgm:cxn modelId="{366B065C-8D59-4A17-A722-8A02990EF2A9}" type="presParOf" srcId="{81A0576F-0D0A-4F9B-81F4-682AD9DA4765}" destId="{488924A7-CE98-435E-B073-37803D42DE2C}" srcOrd="2" destOrd="0" presId="urn:microsoft.com/office/officeart/2005/8/layout/cycle4"/>
    <dgm:cxn modelId="{15EFB2E9-E75C-47FA-A148-4ECA49768826}" type="presParOf" srcId="{81A0576F-0D0A-4F9B-81F4-682AD9DA4765}" destId="{88E01E0A-A391-4D41-901A-64BD0F1C0778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F4DFA0-0A84-4E3D-9FE7-E694DA77D7E6}">
      <dsp:nvSpPr>
        <dsp:cNvPr id="0" name=""/>
        <dsp:cNvSpPr/>
      </dsp:nvSpPr>
      <dsp:spPr>
        <a:xfrm>
          <a:off x="0" y="0"/>
          <a:ext cx="2806863" cy="421206"/>
        </a:xfrm>
        <a:prstGeom prst="roundRect">
          <a:avLst>
            <a:gd name="adj" fmla="val 10000"/>
          </a:avLst>
        </a:prstGeom>
        <a:solidFill>
          <a:schemeClr val="accent4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Quantum One Time Pad </a:t>
          </a:r>
        </a:p>
      </dsp:txBody>
      <dsp:txXfrm>
        <a:off x="12337" y="12337"/>
        <a:ext cx="2316755" cy="396532"/>
      </dsp:txXfrm>
    </dsp:sp>
    <dsp:sp modelId="{60241996-FFE1-48F6-9FE6-4387FA6FDDE0}">
      <dsp:nvSpPr>
        <dsp:cNvPr id="0" name=""/>
        <dsp:cNvSpPr/>
      </dsp:nvSpPr>
      <dsp:spPr>
        <a:xfrm>
          <a:off x="235074" y="497789"/>
          <a:ext cx="2806863" cy="421206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Quantum Aided AES</a:t>
          </a:r>
        </a:p>
      </dsp:txBody>
      <dsp:txXfrm>
        <a:off x="247411" y="510126"/>
        <a:ext cx="2273330" cy="396532"/>
      </dsp:txXfrm>
    </dsp:sp>
    <dsp:sp modelId="{521F258B-83E6-4695-9120-B20DF9286380}">
      <dsp:nvSpPr>
        <dsp:cNvPr id="0" name=""/>
        <dsp:cNvSpPr/>
      </dsp:nvSpPr>
      <dsp:spPr>
        <a:xfrm>
          <a:off x="466641" y="995579"/>
          <a:ext cx="2806863" cy="421206"/>
        </a:xfrm>
        <a:prstGeom prst="roundRect">
          <a:avLst>
            <a:gd name="adj" fmla="val 10000"/>
          </a:avLst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Post Quantum Cryptography</a:t>
          </a:r>
        </a:p>
      </dsp:txBody>
      <dsp:txXfrm>
        <a:off x="478978" y="1007916"/>
        <a:ext cx="2276838" cy="396532"/>
      </dsp:txXfrm>
    </dsp:sp>
    <dsp:sp modelId="{4735AC69-B927-48E9-BB18-B2D3DA2A331B}">
      <dsp:nvSpPr>
        <dsp:cNvPr id="0" name=""/>
        <dsp:cNvSpPr/>
      </dsp:nvSpPr>
      <dsp:spPr>
        <a:xfrm>
          <a:off x="701715" y="1493369"/>
          <a:ext cx="2806863" cy="421206"/>
        </a:xfrm>
        <a:prstGeom prst="roundRect">
          <a:avLst>
            <a:gd name="adj" fmla="val 10000"/>
          </a:avLst>
        </a:prstGeom>
        <a:solidFill>
          <a:schemeClr val="accent5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Normal Mode</a:t>
          </a:r>
        </a:p>
      </dsp:txBody>
      <dsp:txXfrm>
        <a:off x="714052" y="1505706"/>
        <a:ext cx="2273330" cy="396532"/>
      </dsp:txXfrm>
    </dsp:sp>
    <dsp:sp modelId="{AC7C5A12-1884-478A-8626-71AE21BE5E9F}">
      <dsp:nvSpPr>
        <dsp:cNvPr id="0" name=""/>
        <dsp:cNvSpPr/>
      </dsp:nvSpPr>
      <dsp:spPr>
        <a:xfrm>
          <a:off x="2533078" y="322606"/>
          <a:ext cx="273784" cy="27378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594679" y="322606"/>
        <a:ext cx="150582" cy="206022"/>
      </dsp:txXfrm>
    </dsp:sp>
    <dsp:sp modelId="{1D519B02-9DED-4794-9EC3-E318B60A7ECB}">
      <dsp:nvSpPr>
        <dsp:cNvPr id="0" name=""/>
        <dsp:cNvSpPr/>
      </dsp:nvSpPr>
      <dsp:spPr>
        <a:xfrm>
          <a:off x="2768153" y="820395"/>
          <a:ext cx="273784" cy="27378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829754" y="820395"/>
        <a:ext cx="150582" cy="206022"/>
      </dsp:txXfrm>
    </dsp:sp>
    <dsp:sp modelId="{8CC8F4DC-1C24-4762-B719-181D9BC39A4C}">
      <dsp:nvSpPr>
        <dsp:cNvPr id="0" name=""/>
        <dsp:cNvSpPr/>
      </dsp:nvSpPr>
      <dsp:spPr>
        <a:xfrm>
          <a:off x="2999719" y="1318185"/>
          <a:ext cx="273784" cy="27378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061320" y="1318185"/>
        <a:ext cx="150582" cy="2060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9BDEC7-7363-4B1F-860C-7D8506429954}">
      <dsp:nvSpPr>
        <dsp:cNvPr id="0" name=""/>
        <dsp:cNvSpPr/>
      </dsp:nvSpPr>
      <dsp:spPr>
        <a:xfrm>
          <a:off x="3516399" y="3584848"/>
          <a:ext cx="2393835" cy="15351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It's cost-effective as it uses existing email services, and it solves a huge problem (quantum threats), so there's clear demand.</a:t>
          </a:r>
        </a:p>
      </dsp:txBody>
      <dsp:txXfrm>
        <a:off x="4268272" y="4002349"/>
        <a:ext cx="1608240" cy="1083893"/>
      </dsp:txXfrm>
    </dsp:sp>
    <dsp:sp modelId="{0D068489-A105-4455-9728-077EA99F613F}">
      <dsp:nvSpPr>
        <dsp:cNvPr id="0" name=""/>
        <dsp:cNvSpPr/>
      </dsp:nvSpPr>
      <dsp:spPr>
        <a:xfrm>
          <a:off x="-101585" y="3569281"/>
          <a:ext cx="2445463" cy="15261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We can build a working demo in the hackathon and quickly expand it afterward for real world scenarios.</a:t>
          </a:r>
          <a:endParaRPr lang="en-IN" sz="1200" kern="1200" dirty="0"/>
        </a:p>
      </dsp:txBody>
      <dsp:txXfrm>
        <a:off x="-68061" y="3984335"/>
        <a:ext cx="1644776" cy="1077540"/>
      </dsp:txXfrm>
    </dsp:sp>
    <dsp:sp modelId="{764C2B92-1967-45EF-BF42-53A555ABD397}">
      <dsp:nvSpPr>
        <dsp:cNvPr id="0" name=""/>
        <dsp:cNvSpPr/>
      </dsp:nvSpPr>
      <dsp:spPr>
        <a:xfrm>
          <a:off x="3460895" y="314015"/>
          <a:ext cx="2504842" cy="17146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2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It works like any email app, so users will find it easy to use daily.</a:t>
          </a:r>
          <a:endParaRPr lang="en-IN" sz="1400" kern="1200" dirty="0"/>
        </a:p>
      </dsp:txBody>
      <dsp:txXfrm>
        <a:off x="4250013" y="351680"/>
        <a:ext cx="1678059" cy="1210642"/>
      </dsp:txXfrm>
    </dsp:sp>
    <dsp:sp modelId="{2EE10014-012C-4C18-823C-7FAF0F7A9F38}">
      <dsp:nvSpPr>
        <dsp:cNvPr id="0" name=""/>
        <dsp:cNvSpPr/>
      </dsp:nvSpPr>
      <dsp:spPr>
        <a:xfrm>
          <a:off x="-113573" y="353021"/>
          <a:ext cx="2469439" cy="16366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 dirty="0"/>
            <a:t>We use proven industry standards (ETSI QKD API) and standard email tech  (SMTP/IMAP). We can simulate the QKD key system now, making it fully testable.
</a:t>
          </a:r>
          <a:endParaRPr lang="en-IN" sz="110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 dirty="0"/>
        </a:p>
      </dsp:txBody>
      <dsp:txXfrm>
        <a:off x="-77622" y="388972"/>
        <a:ext cx="1656705" cy="1155561"/>
      </dsp:txXfrm>
    </dsp:sp>
    <dsp:sp modelId="{54D2EA33-AFED-44BB-BC23-8AC893073327}">
      <dsp:nvSpPr>
        <dsp:cNvPr id="0" name=""/>
        <dsp:cNvSpPr/>
      </dsp:nvSpPr>
      <dsp:spPr>
        <a:xfrm>
          <a:off x="951725" y="667403"/>
          <a:ext cx="1929788" cy="1929788"/>
        </a:xfrm>
        <a:prstGeom prst="pieWedg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Technical Feasibility</a:t>
          </a:r>
          <a:endParaRPr lang="en-US" sz="1700" kern="1200" dirty="0"/>
        </a:p>
      </dsp:txBody>
      <dsp:txXfrm>
        <a:off x="1516947" y="1232625"/>
        <a:ext cx="1364566" cy="1364566"/>
      </dsp:txXfrm>
    </dsp:sp>
    <dsp:sp modelId="{4E3E126D-C9B4-431B-BA4B-AECBD0E92106}">
      <dsp:nvSpPr>
        <dsp:cNvPr id="0" name=""/>
        <dsp:cNvSpPr/>
      </dsp:nvSpPr>
      <dsp:spPr>
        <a:xfrm rot="5400000">
          <a:off x="2981158" y="730652"/>
          <a:ext cx="1948797" cy="1833627"/>
        </a:xfrm>
        <a:prstGeom prst="pieWedg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Operational Feasibility</a:t>
          </a:r>
        </a:p>
      </dsp:txBody>
      <dsp:txXfrm rot="-5400000">
        <a:off x="3038743" y="1243856"/>
        <a:ext cx="1296570" cy="1378008"/>
      </dsp:txXfrm>
    </dsp:sp>
    <dsp:sp modelId="{68F1C3F0-8E52-4954-B62E-BF8EF4616B75}">
      <dsp:nvSpPr>
        <dsp:cNvPr id="0" name=""/>
        <dsp:cNvSpPr/>
      </dsp:nvSpPr>
      <dsp:spPr>
        <a:xfrm rot="10800000">
          <a:off x="3063569" y="2713663"/>
          <a:ext cx="1817783" cy="1875117"/>
        </a:xfrm>
        <a:prstGeom prst="pieWedg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Economic Feasibility.</a:t>
          </a:r>
        </a:p>
      </dsp:txBody>
      <dsp:txXfrm rot="10800000">
        <a:off x="3063569" y="2713663"/>
        <a:ext cx="1285367" cy="1325908"/>
      </dsp:txXfrm>
    </dsp:sp>
    <dsp:sp modelId="{A690B7FC-39B9-41EC-B8E7-788B6201FC74}">
      <dsp:nvSpPr>
        <dsp:cNvPr id="0" name=""/>
        <dsp:cNvSpPr/>
      </dsp:nvSpPr>
      <dsp:spPr>
        <a:xfrm rot="16200000">
          <a:off x="951725" y="2686327"/>
          <a:ext cx="1929788" cy="1929788"/>
        </a:xfrm>
        <a:prstGeom prst="pieWedg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Time Feasibility</a:t>
          </a:r>
        </a:p>
      </dsp:txBody>
      <dsp:txXfrm rot="5400000">
        <a:off x="1516947" y="2686327"/>
        <a:ext cx="1364566" cy="1364566"/>
      </dsp:txXfrm>
    </dsp:sp>
    <dsp:sp modelId="{488924A7-CE98-435E-B073-37803D42DE2C}">
      <dsp:nvSpPr>
        <dsp:cNvPr id="0" name=""/>
        <dsp:cNvSpPr/>
      </dsp:nvSpPr>
      <dsp:spPr>
        <a:xfrm>
          <a:off x="2592937" y="2240649"/>
          <a:ext cx="666289" cy="579382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E01E0A-A391-4D41-901A-64BD0F1C0778}">
      <dsp:nvSpPr>
        <dsp:cNvPr id="0" name=""/>
        <dsp:cNvSpPr/>
      </dsp:nvSpPr>
      <dsp:spPr>
        <a:xfrm rot="10800000">
          <a:off x="2592937" y="2463488"/>
          <a:ext cx="666289" cy="579382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09:26:06.5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29 24575,'603'0'0,"-576"-2"0,0 0 0,32-8 0,-29 4 0,46-2 0,354 7 0,-205 3 0,-210-1-261,1 0 0,-1 2 0,0 0 0,15 5 0,-29-8 201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09:27:35.28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3146 127 24575,'-3146'-127'0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26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3658465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7.jpe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6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jpg"/><Relationship Id="rId5" Type="http://schemas.openxmlformats.org/officeDocument/2006/relationships/image" Target="../media/image9.jpeg"/><Relationship Id="rId10" Type="http://schemas.openxmlformats.org/officeDocument/2006/relationships/image" Target="../media/image14.png"/><Relationship Id="rId4" Type="http://schemas.openxmlformats.org/officeDocument/2006/relationships/image" Target="../media/image8.jpg"/><Relationship Id="rId9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customXml" Target="../ink/ink1.xml"/><Relationship Id="rId7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customXml" Target="../ink/ink2.xml"/><Relationship Id="rId4" Type="http://schemas.openxmlformats.org/officeDocument/2006/relationships/image" Target="../media/image30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quantumsafe.org/" TargetMode="External"/><Relationship Id="rId13" Type="http://schemas.openxmlformats.org/officeDocument/2006/relationships/hyperlink" Target="https://arxiv.org/abs/2403.18247?utm_source=chatgpt.com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csrc.nist.gov/Projects/post-quantum-cryptography?utm_source=chatgpt.com" TargetMode="External"/><Relationship Id="rId12" Type="http://schemas.openxmlformats.org/officeDocument/2006/relationships/hyperlink" Target="https://link.springer.com/article/10.1140/epjqt/s40507-022-00127-0?utm_source=chatgpt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searchgate.net/publication/329657324_An_Overview_of_Quantum_Key_Distribution_Protocols" TargetMode="External"/><Relationship Id="rId11" Type="http://schemas.openxmlformats.org/officeDocument/2006/relationships/hyperlink" Target="https://arxiv.org/abs/2206.01164?utm_source=chatgpt.com" TargetMode="External"/><Relationship Id="rId5" Type="http://schemas.openxmlformats.org/officeDocument/2006/relationships/hyperlink" Target="https://www.nsa.gov/Cybersecurity/Quantum-Key-Distribution-QKD-and-Quantum-Cryptography-QC/?utm_source=chatgpt.com" TargetMode="External"/><Relationship Id="rId10" Type="http://schemas.openxmlformats.org/officeDocument/2006/relationships/hyperlink" Target="https://vidhyayanaejournal.org/journal/article/view/856?utm_source=chatgpt.com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www.comsoc.org/publications/ctn/quantum-key-distribution-qkd-safeguarding-futu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06966" y="323850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2628" y="1129165"/>
            <a:ext cx="5695888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25179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</a:t>
            </a:r>
            <a: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Quantum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Secure Email Client Application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Blockchain &amp; Cybersecurity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Team Quantum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09834" y="214660"/>
            <a:ext cx="1976765" cy="525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3250" spc="-180" dirty="0">
                <a:uFill>
                  <a:solidFill>
                    <a:srgbClr val="000000"/>
                  </a:solidFill>
                </a:uFill>
                <a:latin typeface="Nirmala UI"/>
                <a:cs typeface="Nirmala UI"/>
              </a:rPr>
              <a:t>Qu-Mail</a:t>
            </a:r>
            <a:endParaRPr sz="3250" dirty="0">
              <a:latin typeface="Nirmala UI"/>
              <a:cs typeface="Nirmala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3910" y="0"/>
            <a:ext cx="2246575" cy="10488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1801" y="1025507"/>
            <a:ext cx="4139596" cy="32270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Proposed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Solution</a:t>
            </a:r>
            <a:r>
              <a:rPr sz="2000" spc="-10" dirty="0">
                <a:latin typeface="Times New Roman"/>
                <a:cs typeface="Times New Roman"/>
              </a:rPr>
              <a:t>:</a:t>
            </a:r>
            <a:endParaRPr sz="2000" dirty="0">
              <a:latin typeface="Times New Roman"/>
              <a:cs typeface="Times New Roman"/>
            </a:endParaRPr>
          </a:p>
          <a:p>
            <a:pPr marL="457200" marR="5080" indent="-317500">
              <a:lnSpc>
                <a:spcPct val="107100"/>
              </a:lnSpc>
              <a:spcBef>
                <a:spcPts val="1200"/>
              </a:spcBef>
              <a:buFontTx/>
              <a:buChar char="•"/>
              <a:tabLst>
                <a:tab pos="457200" algn="l"/>
              </a:tabLst>
            </a:pPr>
            <a:r>
              <a:rPr lang="en-US" sz="1200" dirty="0"/>
              <a:t>We are developing </a:t>
            </a:r>
            <a:r>
              <a:rPr lang="en-US" sz="1200" b="1" dirty="0"/>
              <a:t>Qu-Mail</a:t>
            </a:r>
            <a:r>
              <a:rPr lang="en-US" sz="1200" dirty="0"/>
              <a:t>, a secure email client that works like </a:t>
            </a:r>
            <a:r>
              <a:rPr lang="en-US" sz="1200" b="1" dirty="0"/>
              <a:t>Outlook</a:t>
            </a:r>
            <a:r>
              <a:rPr lang="en-US" sz="1200" dirty="0"/>
              <a:t> or </a:t>
            </a:r>
            <a:r>
              <a:rPr lang="en-US" sz="1200" b="1" dirty="0"/>
              <a:t>Gmail </a:t>
            </a:r>
            <a:r>
              <a:rPr lang="en-US" sz="1200" dirty="0"/>
              <a:t>but adds</a:t>
            </a:r>
            <a:r>
              <a:rPr lang="en-US" sz="1200" b="1" dirty="0"/>
              <a:t> quantum-level security.</a:t>
            </a:r>
          </a:p>
          <a:p>
            <a:pPr marL="457200" marR="5080" indent="-317500">
              <a:lnSpc>
                <a:spcPct val="107100"/>
              </a:lnSpc>
              <a:spcBef>
                <a:spcPts val="1200"/>
              </a:spcBef>
              <a:buFontTx/>
              <a:buChar char="•"/>
              <a:tabLst>
                <a:tab pos="457200" algn="l"/>
              </a:tabLst>
            </a:pPr>
            <a:r>
              <a:rPr lang="en-US" sz="1200" dirty="0"/>
              <a:t>The application connects with a </a:t>
            </a:r>
            <a:r>
              <a:rPr lang="en-US" sz="1200" b="1" dirty="0"/>
              <a:t>Key Manager (KM</a:t>
            </a:r>
            <a:r>
              <a:rPr lang="en-US" sz="1200" dirty="0"/>
              <a:t>) that provides quantum-generated secret keys using international standards </a:t>
            </a:r>
            <a:r>
              <a:rPr lang="en-US" sz="1200" b="1" dirty="0"/>
              <a:t>(ETSI GS QKD 014).</a:t>
            </a:r>
          </a:p>
          <a:p>
            <a:pPr marL="457200" marR="5080" indent="-317500">
              <a:lnSpc>
                <a:spcPct val="107100"/>
              </a:lnSpc>
              <a:spcBef>
                <a:spcPts val="1200"/>
              </a:spcBef>
              <a:buFontTx/>
              <a:buChar char="•"/>
              <a:tabLst>
                <a:tab pos="457200" algn="l"/>
              </a:tabLst>
            </a:pPr>
            <a:r>
              <a:rPr lang="en-US" sz="1200" dirty="0"/>
              <a:t>These keys are then used by </a:t>
            </a:r>
            <a:r>
              <a:rPr lang="en-US" sz="1200" b="1" dirty="0"/>
              <a:t>Qu-Mail </a:t>
            </a:r>
            <a:r>
              <a:rPr lang="en-US" sz="1200" dirty="0"/>
              <a:t>to encrypt emails and attachments before they are sent over the internet. On the receiver’s side, Qu-Mail retrieves the same </a:t>
            </a:r>
            <a:r>
              <a:rPr lang="en-US" sz="1200" b="1" dirty="0"/>
              <a:t>quantum key </a:t>
            </a:r>
            <a:r>
              <a:rPr lang="en-US" sz="1200" dirty="0"/>
              <a:t>from their local KM and decrypts the email securely</a:t>
            </a:r>
          </a:p>
          <a:p>
            <a:pPr marL="139700" marR="5080">
              <a:lnSpc>
                <a:spcPct val="107100"/>
              </a:lnSpc>
              <a:spcBef>
                <a:spcPts val="1200"/>
              </a:spcBef>
              <a:tabLst>
                <a:tab pos="457200" algn="l"/>
              </a:tabLst>
            </a:pPr>
            <a:r>
              <a:rPr lang="en-US" sz="2000" b="1" dirty="0"/>
              <a:t>Security Modes Offered:</a:t>
            </a:r>
            <a:endParaRPr lang="en-IN" sz="2000" b="1" dirty="0"/>
          </a:p>
        </p:txBody>
      </p:sp>
      <p:sp>
        <p:nvSpPr>
          <p:cNvPr id="7" name="object 7"/>
          <p:cNvSpPr txBox="1"/>
          <p:nvPr/>
        </p:nvSpPr>
        <p:spPr>
          <a:xfrm>
            <a:off x="4403102" y="1064331"/>
            <a:ext cx="234759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How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it</a:t>
            </a:r>
            <a:r>
              <a:rPr sz="1400" b="1" spc="-8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Addresses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the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Problem</a:t>
            </a:r>
            <a:r>
              <a:rPr sz="1400" spc="-10" dirty="0">
                <a:latin typeface="Times New Roman"/>
                <a:cs typeface="Times New Roman"/>
              </a:rPr>
              <a:t>: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95800" y="1398954"/>
            <a:ext cx="7506786" cy="16168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242570" indent="-317500">
              <a:lnSpc>
                <a:spcPct val="107100"/>
              </a:lnSpc>
              <a:spcBef>
                <a:spcPts val="1200"/>
              </a:spcBef>
              <a:buChar char="•"/>
              <a:tabLst>
                <a:tab pos="317500" algn="l"/>
              </a:tabLst>
            </a:pPr>
            <a:r>
              <a:rPr lang="en-US" sz="1400" dirty="0"/>
              <a:t>Protects emails from being decrypted by future </a:t>
            </a:r>
            <a:r>
              <a:rPr lang="en-US" sz="1400" b="1" dirty="0"/>
              <a:t>quantum computers</a:t>
            </a:r>
            <a:r>
              <a:rPr lang="en-US" sz="1400" dirty="0"/>
              <a:t>.</a:t>
            </a:r>
          </a:p>
          <a:p>
            <a:pPr marL="317500" marR="242570" indent="-317500">
              <a:lnSpc>
                <a:spcPct val="107100"/>
              </a:lnSpc>
              <a:spcBef>
                <a:spcPts val="1200"/>
              </a:spcBef>
              <a:buChar char="•"/>
              <a:tabLst>
                <a:tab pos="317500" algn="l"/>
              </a:tabLst>
            </a:pPr>
            <a:r>
              <a:rPr lang="en-US" sz="1400" dirty="0"/>
              <a:t>Prevents store-now, decrypt-later attacks, where adversaries save emails today to crack them in the future.</a:t>
            </a:r>
          </a:p>
          <a:p>
            <a:pPr marL="317500" marR="242570" indent="-317500">
              <a:lnSpc>
                <a:spcPct val="107100"/>
              </a:lnSpc>
              <a:spcBef>
                <a:spcPts val="1200"/>
              </a:spcBef>
              <a:buChar char="•"/>
              <a:tabLst>
                <a:tab pos="317500" algn="l"/>
              </a:tabLst>
            </a:pPr>
            <a:r>
              <a:rPr lang="en-US" sz="1400" dirty="0"/>
              <a:t>Builds trustworthy and </a:t>
            </a:r>
            <a:r>
              <a:rPr lang="en-US" sz="1400" b="1" dirty="0"/>
              <a:t>future-proof communication </a:t>
            </a:r>
            <a:r>
              <a:rPr lang="en-US" sz="1400" dirty="0"/>
              <a:t>beyond classical encryption.</a:t>
            </a:r>
          </a:p>
          <a:p>
            <a:pPr marL="317500" marR="242570" indent="-317500">
              <a:lnSpc>
                <a:spcPct val="107100"/>
              </a:lnSpc>
              <a:spcBef>
                <a:spcPts val="1200"/>
              </a:spcBef>
              <a:buChar char="•"/>
              <a:tabLst>
                <a:tab pos="317500" algn="l"/>
              </a:tabLst>
            </a:pPr>
            <a:r>
              <a:rPr lang="en-US" sz="1400" b="1" dirty="0"/>
              <a:t>Secures attachments </a:t>
            </a:r>
            <a:r>
              <a:rPr lang="en-US" sz="1400" dirty="0"/>
              <a:t>and sensitive data sent over untrusted networks.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27039" y="952380"/>
            <a:ext cx="12137920" cy="5333365"/>
            <a:chOff x="37371" y="968644"/>
            <a:chExt cx="12114774" cy="5333365"/>
          </a:xfrm>
        </p:grpSpPr>
        <p:sp>
          <p:nvSpPr>
            <p:cNvPr id="12" name="object 12"/>
            <p:cNvSpPr/>
            <p:nvPr/>
          </p:nvSpPr>
          <p:spPr>
            <a:xfrm>
              <a:off x="37371" y="968644"/>
              <a:ext cx="4246245" cy="5333365"/>
            </a:xfrm>
            <a:custGeom>
              <a:avLst/>
              <a:gdLst/>
              <a:ahLst/>
              <a:cxnLst/>
              <a:rect l="l" t="t" r="r" b="b"/>
              <a:pathLst>
                <a:path w="4246245" h="5333365">
                  <a:moveTo>
                    <a:pt x="0" y="0"/>
                  </a:moveTo>
                  <a:lnTo>
                    <a:pt x="4246084" y="0"/>
                  </a:lnTo>
                  <a:lnTo>
                    <a:pt x="4246084" y="5332916"/>
                  </a:lnTo>
                  <a:lnTo>
                    <a:pt x="0" y="5332916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70081" y="977150"/>
              <a:ext cx="7782064" cy="2150927"/>
            </a:xfrm>
            <a:custGeom>
              <a:avLst/>
              <a:gdLst/>
              <a:ahLst/>
              <a:cxnLst/>
              <a:rect l="l" t="t" r="r" b="b"/>
              <a:pathLst>
                <a:path w="7620000" h="2244725">
                  <a:moveTo>
                    <a:pt x="0" y="0"/>
                  </a:moveTo>
                  <a:lnTo>
                    <a:pt x="7619611" y="0"/>
                  </a:lnTo>
                  <a:lnTo>
                    <a:pt x="7619611" y="2244460"/>
                  </a:lnTo>
                  <a:lnTo>
                    <a:pt x="0" y="224446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6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95D13F-B241-1BD5-82C9-8B25D11AF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9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F30CBBF-40A6-A4E9-1C64-42DF99E412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9732446"/>
              </p:ext>
            </p:extLst>
          </p:nvPr>
        </p:nvGraphicFramePr>
        <p:xfrm>
          <a:off x="463981" y="4252544"/>
          <a:ext cx="3508579" cy="1914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325221B7-D01D-BB09-5119-F327F1C06AC1}"/>
              </a:ext>
            </a:extLst>
          </p:cNvPr>
          <p:cNvSpPr/>
          <p:nvPr/>
        </p:nvSpPr>
        <p:spPr>
          <a:xfrm>
            <a:off x="4368029" y="3241550"/>
            <a:ext cx="7796932" cy="310380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B3A522-05C4-4C14-FBE1-2D9360ABBA3D}"/>
              </a:ext>
            </a:extLst>
          </p:cNvPr>
          <p:cNvSpPr txBox="1"/>
          <p:nvPr/>
        </p:nvSpPr>
        <p:spPr>
          <a:xfrm>
            <a:off x="4403102" y="3250581"/>
            <a:ext cx="52095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Innovation &amp; Uniqueness</a:t>
            </a:r>
          </a:p>
        </p:txBody>
      </p:sp>
      <p:sp>
        <p:nvSpPr>
          <p:cNvPr id="27" name="Footer Placeholder 6">
            <a:extLst>
              <a:ext uri="{FF2B5EF4-FFF2-40B4-BE49-F238E27FC236}">
                <a16:creationId xmlns:a16="http://schemas.microsoft.com/office/drawing/2014/main" id="{3AAE1507-AFD4-1254-01F4-C545B3529556}"/>
              </a:ext>
            </a:extLst>
          </p:cNvPr>
          <p:cNvSpPr txBox="1">
            <a:spLocks/>
          </p:cNvSpPr>
          <p:nvPr/>
        </p:nvSpPr>
        <p:spPr>
          <a:xfrm>
            <a:off x="4648200" y="6356353"/>
            <a:ext cx="32040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sz="1200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CFD4F2-303B-A8AE-8FC5-025546388925}"/>
              </a:ext>
            </a:extLst>
          </p:cNvPr>
          <p:cNvSpPr txBox="1"/>
          <p:nvPr/>
        </p:nvSpPr>
        <p:spPr>
          <a:xfrm>
            <a:off x="11440160" y="6361556"/>
            <a:ext cx="3623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CCEE4BE-27CD-69CF-5D09-E469C07E2B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9592" y="-168574"/>
            <a:ext cx="1291612" cy="12916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F7849B-E6C8-7A1F-D4E7-D5E7A599BC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09502" y="3728411"/>
            <a:ext cx="2806803" cy="23911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DE7759D-60B5-1FD2-80E2-5D00C5B6D5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37162" y="3698015"/>
            <a:ext cx="2806804" cy="239119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4B37B9C-1041-85F0-BEDA-E7A13E7D69A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12643" y="3698015"/>
            <a:ext cx="2477918" cy="24215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894A53-41EB-7228-55AD-163CD241C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354" y="730152"/>
            <a:ext cx="6747099" cy="562620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809D478-FF9E-72C8-E00A-4979DAC179A0}"/>
              </a:ext>
            </a:extLst>
          </p:cNvPr>
          <p:cNvSpPr/>
          <p:nvPr/>
        </p:nvSpPr>
        <p:spPr>
          <a:xfrm>
            <a:off x="7632269" y="1559244"/>
            <a:ext cx="3867515" cy="20278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6F36445-68E5-7441-7960-6328302C8E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012" y="1889116"/>
            <a:ext cx="556383" cy="5536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4D1A8A0-E50C-DFBE-15B8-77F8A53064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4964" y="1646049"/>
            <a:ext cx="1074726" cy="85978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7C8596B-22A9-3811-EBEA-456F4398BC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3657" y="2678660"/>
            <a:ext cx="912738" cy="86391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3E22D10-469A-2B13-09A6-84E556AFA2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7521" y="2745519"/>
            <a:ext cx="912739" cy="73019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279633F-6E24-1862-2394-183DFA0B6A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47521" y="1732244"/>
            <a:ext cx="888093" cy="71047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83A28F2-3026-9FCF-662E-CB43C781F4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1386" y="2440070"/>
            <a:ext cx="1296819" cy="97061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9F8670B-5890-17A0-2BE6-EA5B264D024F}"/>
              </a:ext>
            </a:extLst>
          </p:cNvPr>
          <p:cNvSpPr txBox="1"/>
          <p:nvPr/>
        </p:nvSpPr>
        <p:spPr>
          <a:xfrm>
            <a:off x="7481031" y="1126658"/>
            <a:ext cx="4169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</a:t>
            </a:r>
            <a:r>
              <a:rPr lang="en-US" sz="2400" b="1" dirty="0"/>
              <a:t>Technical stack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110847-3441-E52E-1993-C22ECBE33D3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81031" y="3663026"/>
            <a:ext cx="4254207" cy="27099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13AC7E1-4689-A554-9F76-0B01F55EB79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184172" y="-280779"/>
            <a:ext cx="1291612" cy="12916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63800" y="3696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6C6DB10-2C2B-9AA8-A064-B6C3B6E59D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8218135"/>
              </p:ext>
            </p:extLst>
          </p:nvPr>
        </p:nvGraphicFramePr>
        <p:xfrm>
          <a:off x="397034" y="787240"/>
          <a:ext cx="5852165" cy="5283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BCF3159B-4050-F1BD-0289-21A5CBB230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65487" y="-111647"/>
            <a:ext cx="1291612" cy="129161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90240E6-689E-D949-7663-9EFBB8AE214C}"/>
              </a:ext>
            </a:extLst>
          </p:cNvPr>
          <p:cNvSpPr/>
          <p:nvPr/>
        </p:nvSpPr>
        <p:spPr>
          <a:xfrm>
            <a:off x="6711720" y="1171848"/>
            <a:ext cx="5274876" cy="207476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037D8A-CA3E-DB12-0AF4-A98439B3BCA0}"/>
              </a:ext>
            </a:extLst>
          </p:cNvPr>
          <p:cNvSpPr txBox="1"/>
          <p:nvPr/>
        </p:nvSpPr>
        <p:spPr>
          <a:xfrm>
            <a:off x="6875009" y="1276840"/>
            <a:ext cx="5161935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Potential Challenges and Risks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QKD Network Access</a:t>
            </a:r>
            <a:r>
              <a:rPr lang="en-US" sz="1400" dirty="0"/>
              <a:t>: Real quantum networks are not everywhere yet.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Key Manager (KM) Uptime</a:t>
            </a:r>
            <a:r>
              <a:rPr lang="en-US" sz="1400" dirty="0"/>
              <a:t>: If the key server goes down, keys can't be delivered.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Getting Users to Switch</a:t>
            </a:r>
            <a:r>
              <a:rPr lang="en-US" sz="1400" dirty="0"/>
              <a:t>: People are used to Gmail/Outlook.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Speed</a:t>
            </a:r>
            <a:r>
              <a:rPr lang="en-US" sz="1400" dirty="0"/>
              <a:t>: Getting keys and encrypting might make things a bit slower.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1BA02E-8392-1F5E-CF37-76AF7C4D75CD}"/>
              </a:ext>
            </a:extLst>
          </p:cNvPr>
          <p:cNvSpPr/>
          <p:nvPr/>
        </p:nvSpPr>
        <p:spPr>
          <a:xfrm>
            <a:off x="6711720" y="3343484"/>
            <a:ext cx="5274876" cy="301127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846C76-460F-F454-7742-626CE55B15E2}"/>
              </a:ext>
            </a:extLst>
          </p:cNvPr>
          <p:cNvSpPr txBox="1"/>
          <p:nvPr/>
        </p:nvSpPr>
        <p:spPr>
          <a:xfrm>
            <a:off x="6814235" y="3279589"/>
            <a:ext cx="506984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Strategies to Overcome Challenges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For Network Access</a:t>
            </a:r>
            <a:r>
              <a:rPr lang="en-US" sz="1400" dirty="0"/>
              <a:t>: If QKD is offline, we automatically use Post-Quantum Cryptography (PQC). You're always quantum-safe Implement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For KM Uptime</a:t>
            </a:r>
            <a:r>
              <a:rPr lang="en-US" b="1" dirty="0"/>
              <a:t>: </a:t>
            </a:r>
            <a:r>
              <a:rPr lang="en-US" sz="1400" dirty="0"/>
              <a:t>We'll design the KM for high reliability and the app will temporarily cache keys so you don't notice minor issues</a:t>
            </a:r>
            <a:r>
              <a:rPr lang="en-US" b="1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For User Adoption</a:t>
            </a:r>
            <a:r>
              <a:rPr lang="en-US" sz="1400" dirty="0"/>
              <a:t>: We'll make Qu-Mail super simple and familiar to use, hiding all the complex security in the background.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For Speed</a:t>
            </a:r>
            <a:r>
              <a:rPr lang="en-US" sz="1400" dirty="0"/>
              <a:t>: We'll use fast, efficient encryption methods that run smoothly in the background, so your email experience stays quick.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17125-0A00-6F7F-525C-75CC891A0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882F65B-503B-76ED-F164-BB6AB2951B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00400" y="214660"/>
            <a:ext cx="6324600" cy="51616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3250" dirty="0">
                <a:latin typeface="Nirmala UI"/>
                <a:cs typeface="Nirmala UI"/>
              </a:rPr>
              <a:t>IMPACTS AND BENEFITS</a:t>
            </a:r>
            <a:endParaRPr sz="3250" dirty="0">
              <a:latin typeface="Nirmala UI"/>
              <a:cs typeface="Nirmala UI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40E928AA-C1EF-6546-71D0-B7986824C1D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3910" y="-93144"/>
            <a:ext cx="2246575" cy="1048849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EE9925D4-86FA-B243-792A-A31B997462E2}"/>
              </a:ext>
            </a:extLst>
          </p:cNvPr>
          <p:cNvSpPr txBox="1"/>
          <p:nvPr/>
        </p:nvSpPr>
        <p:spPr>
          <a:xfrm>
            <a:off x="141515" y="839799"/>
            <a:ext cx="4238369" cy="3248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1400" b="1" spc="-10" dirty="0">
                <a:latin typeface="Times New Roman"/>
                <a:cs typeface="Times New Roman"/>
              </a:rPr>
              <a:t>Impact</a:t>
            </a:r>
            <a:r>
              <a:rPr lang="en-IN" sz="1400" spc="-10" dirty="0">
                <a:latin typeface="Times New Roman"/>
                <a:cs typeface="Times New Roman"/>
              </a:rPr>
              <a:t>:</a:t>
            </a:r>
            <a:endParaRPr lang="en-IN" sz="1400" dirty="0">
              <a:latin typeface="Times New Roman"/>
              <a:cs typeface="Times New Roman"/>
            </a:endParaRPr>
          </a:p>
          <a:p>
            <a:pPr marL="457200" marR="5080" indent="-317500">
              <a:lnSpc>
                <a:spcPct val="107100"/>
              </a:lnSpc>
              <a:spcBef>
                <a:spcPts val="1200"/>
              </a:spcBef>
              <a:buFontTx/>
              <a:buChar char="•"/>
              <a:tabLst>
                <a:tab pos="457200" algn="l"/>
              </a:tabLst>
            </a:pPr>
            <a:r>
              <a:rPr lang="en-IN" sz="1200" b="1" dirty="0"/>
              <a:t>Empowering Citizens</a:t>
            </a:r>
            <a:r>
              <a:rPr lang="en-US" sz="1200" b="1" dirty="0"/>
              <a:t>:</a:t>
            </a:r>
            <a:r>
              <a:rPr lang="en-US" sz="1200" dirty="0"/>
              <a:t> Guarantees every individual’s personal data is safe in the quantum era.</a:t>
            </a:r>
            <a:endParaRPr lang="en-US" sz="1200" b="1" dirty="0"/>
          </a:p>
          <a:p>
            <a:pPr marL="457200" marR="5080" indent="-317500">
              <a:lnSpc>
                <a:spcPct val="107100"/>
              </a:lnSpc>
              <a:spcBef>
                <a:spcPts val="1200"/>
              </a:spcBef>
              <a:buFontTx/>
              <a:buChar char="•"/>
              <a:tabLst>
                <a:tab pos="457200" algn="l"/>
              </a:tabLst>
            </a:pPr>
            <a:r>
              <a:rPr lang="en-IN" sz="1200" b="1" dirty="0"/>
              <a:t>Securing Businesses and Economy</a:t>
            </a:r>
            <a:r>
              <a:rPr lang="en-US" sz="1200" b="1" dirty="0"/>
              <a:t>:</a:t>
            </a:r>
            <a:r>
              <a:rPr lang="en-US" sz="1200" dirty="0"/>
              <a:t> Safeguards companies’ ideas and trade secrets to protect economic growth.</a:t>
            </a:r>
          </a:p>
          <a:p>
            <a:pPr marL="457200" marR="5080" indent="-317500">
              <a:lnSpc>
                <a:spcPct val="107100"/>
              </a:lnSpc>
              <a:spcBef>
                <a:spcPts val="1200"/>
              </a:spcBef>
              <a:buFontTx/>
              <a:buChar char="•"/>
              <a:tabLst>
                <a:tab pos="457200" algn="l"/>
              </a:tabLst>
            </a:pPr>
            <a:r>
              <a:rPr lang="en-US" sz="1200" b="1" dirty="0"/>
              <a:t>Strengthening National Security:</a:t>
            </a:r>
            <a:r>
              <a:rPr lang="en-US" sz="1200" dirty="0"/>
              <a:t> </a:t>
            </a:r>
            <a:r>
              <a:rPr lang="en-IN" sz="1200" dirty="0"/>
              <a:t>Provides secure communication</a:t>
            </a:r>
            <a:r>
              <a:rPr lang="en-US" sz="1200" dirty="0"/>
              <a:t> for our defenses, intelligence (RAW).</a:t>
            </a:r>
          </a:p>
          <a:p>
            <a:pPr marL="457200" marR="5080" indent="-317500">
              <a:lnSpc>
                <a:spcPct val="107100"/>
              </a:lnSpc>
              <a:spcBef>
                <a:spcPts val="1200"/>
              </a:spcBef>
              <a:buFontTx/>
              <a:buChar char="•"/>
              <a:tabLst>
                <a:tab pos="457200" algn="l"/>
              </a:tabLst>
            </a:pPr>
            <a:r>
              <a:rPr lang="en-US" sz="1200" b="1" dirty="0"/>
              <a:t> </a:t>
            </a:r>
            <a:r>
              <a:rPr lang="en-IN" sz="1200" b="1" dirty="0"/>
              <a:t>Building Our Own Technology</a:t>
            </a:r>
            <a:r>
              <a:rPr lang="en-US" sz="1200" b="1" dirty="0"/>
              <a:t>:</a:t>
            </a:r>
            <a:r>
              <a:rPr lang="en-US" sz="1200" dirty="0"/>
              <a:t> Develops India’s quantum-safe tools to reduce foreign reliance and ensure digital independence.</a:t>
            </a:r>
            <a:endParaRPr lang="en-US" sz="12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39700" marR="5080">
              <a:lnSpc>
                <a:spcPct val="107100"/>
              </a:lnSpc>
              <a:spcBef>
                <a:spcPts val="1200"/>
              </a:spcBef>
              <a:tabLst>
                <a:tab pos="457200" algn="l"/>
              </a:tabLst>
            </a:pPr>
            <a:endParaRPr lang="en-US" sz="1000" dirty="0"/>
          </a:p>
          <a:p>
            <a:pPr marL="457200" marR="5080" indent="-317500">
              <a:lnSpc>
                <a:spcPct val="107100"/>
              </a:lnSpc>
              <a:spcBef>
                <a:spcPts val="1200"/>
              </a:spcBef>
              <a:buFontTx/>
              <a:buChar char="•"/>
              <a:tabLst>
                <a:tab pos="457200" algn="l"/>
              </a:tabLst>
            </a:pPr>
            <a:endParaRPr lang="en-US" sz="1000" dirty="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0C58EA5-2DC5-15CB-A83C-5BC46C1F4854}"/>
              </a:ext>
            </a:extLst>
          </p:cNvPr>
          <p:cNvSpPr txBox="1"/>
          <p:nvPr/>
        </p:nvSpPr>
        <p:spPr>
          <a:xfrm>
            <a:off x="5125787" y="883479"/>
            <a:ext cx="211585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1400" b="1" dirty="0"/>
              <a:t>Benefits of the Solution:</a:t>
            </a:r>
            <a:endParaRPr sz="1400" b="1" dirty="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BB0AC67-7A9C-117F-1FB3-487DCF59800B}"/>
              </a:ext>
            </a:extLst>
          </p:cNvPr>
          <p:cNvSpPr txBox="1"/>
          <p:nvPr/>
        </p:nvSpPr>
        <p:spPr>
          <a:xfrm>
            <a:off x="5334000" y="1229159"/>
            <a:ext cx="6646463" cy="23415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    Uncompromising Security:</a:t>
            </a:r>
            <a:r>
              <a:rPr lang="en-US" sz="1200" dirty="0"/>
              <a:t> Quantum-safe QKD encryption makes communications unbreakable.</a:t>
            </a:r>
          </a:p>
          <a:p>
            <a:pPr marL="317500" marR="242570" indent="-317500">
              <a:lnSpc>
                <a:spcPct val="107100"/>
              </a:lnSpc>
              <a:spcBef>
                <a:spcPts val="1200"/>
              </a:spcBef>
              <a:buChar char="•"/>
              <a:tabLst>
                <a:tab pos="317500" algn="l"/>
              </a:tabLst>
            </a:pPr>
            <a:r>
              <a:rPr lang="en-US" sz="1200" b="1" dirty="0"/>
              <a:t>Familiar Experience</a:t>
            </a:r>
            <a:r>
              <a:rPr lang="en-US" sz="1200" dirty="0"/>
              <a:t>: Works just like a regular email client (Outlook, Gmail), requiring no changes.</a:t>
            </a:r>
          </a:p>
          <a:p>
            <a:pPr marL="317500" marR="242570" indent="-317500">
              <a:lnSpc>
                <a:spcPct val="107100"/>
              </a:lnSpc>
              <a:spcBef>
                <a:spcPts val="1200"/>
              </a:spcBef>
              <a:buChar char="•"/>
              <a:tabLst>
                <a:tab pos="317500" algn="l"/>
              </a:tabLst>
            </a:pPr>
            <a:r>
              <a:rPr lang="en-US" sz="1200" b="1" dirty="0"/>
              <a:t>Future-Ready &amp; Flexible: </a:t>
            </a:r>
            <a:r>
              <a:rPr lang="en-US" sz="1200" dirty="0"/>
              <a:t>Offers different security levels for various needs and can extend to chat, video, and file sharing.</a:t>
            </a:r>
          </a:p>
          <a:p>
            <a:pPr marL="317500" marR="242570" indent="-317500">
              <a:lnSpc>
                <a:spcPct val="107100"/>
              </a:lnSpc>
              <a:spcBef>
                <a:spcPts val="1200"/>
              </a:spcBef>
              <a:buChar char="•"/>
              <a:tabLst>
                <a:tab pos="317500" algn="l"/>
              </a:tabLst>
            </a:pPr>
            <a:r>
              <a:rPr lang="en-US" sz="1200" b="1" dirty="0"/>
              <a:t>Simplified Key Management</a:t>
            </a:r>
            <a:r>
              <a:rPr lang="en-US" sz="1200" dirty="0"/>
              <a:t>: Centralized Key Manager (KM) handles key distribution, freeing users from complex cryptographic tasks.</a:t>
            </a:r>
          </a:p>
          <a:p>
            <a:pPr marL="317500" marR="242570" indent="-317500">
              <a:lnSpc>
                <a:spcPct val="107100"/>
              </a:lnSpc>
              <a:spcBef>
                <a:spcPts val="1200"/>
              </a:spcBef>
              <a:buChar char="•"/>
              <a:tabLst>
                <a:tab pos="317500" algn="l"/>
              </a:tabLst>
            </a:pPr>
            <a:r>
              <a:rPr lang="en-US" sz="1200" b="1" dirty="0"/>
              <a:t>Zero Extra Cost:</a:t>
            </a:r>
            <a:r>
              <a:rPr lang="en-US" sz="1200" dirty="0"/>
              <a:t> Integrates with existing email providers without new infrastructure.</a:t>
            </a:r>
          </a:p>
          <a:p>
            <a:pPr marR="242570">
              <a:lnSpc>
                <a:spcPct val="107100"/>
              </a:lnSpc>
              <a:spcBef>
                <a:spcPts val="1200"/>
              </a:spcBef>
              <a:tabLst>
                <a:tab pos="317500" algn="l"/>
              </a:tabLst>
            </a:pPr>
            <a:endParaRPr lang="en-US" sz="1200" dirty="0"/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7E6AB4D4-D8A0-13B2-A565-04CDA3F46981}"/>
              </a:ext>
            </a:extLst>
          </p:cNvPr>
          <p:cNvGrpSpPr/>
          <p:nvPr/>
        </p:nvGrpSpPr>
        <p:grpSpPr>
          <a:xfrm>
            <a:off x="83373" y="889456"/>
            <a:ext cx="11999582" cy="5521285"/>
            <a:chOff x="-23589" y="977150"/>
            <a:chExt cx="12131040" cy="5627054"/>
          </a:xfrm>
        </p:grpSpPr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62351E6E-BD05-6336-56F2-254F02977F4F}"/>
                </a:ext>
              </a:extLst>
            </p:cNvPr>
            <p:cNvSpPr/>
            <p:nvPr/>
          </p:nvSpPr>
          <p:spPr>
            <a:xfrm>
              <a:off x="-23589" y="977150"/>
              <a:ext cx="4989738" cy="5627054"/>
            </a:xfrm>
            <a:custGeom>
              <a:avLst/>
              <a:gdLst/>
              <a:ahLst/>
              <a:cxnLst/>
              <a:rect l="l" t="t" r="r" b="b"/>
              <a:pathLst>
                <a:path w="4246245" h="5333365">
                  <a:moveTo>
                    <a:pt x="0" y="0"/>
                  </a:moveTo>
                  <a:lnTo>
                    <a:pt x="4246084" y="0"/>
                  </a:lnTo>
                  <a:lnTo>
                    <a:pt x="4246084" y="5332916"/>
                  </a:lnTo>
                  <a:lnTo>
                    <a:pt x="0" y="5332916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6475F7C8-3659-EE2D-4CD1-E376A2AF3DB6}"/>
                </a:ext>
              </a:extLst>
            </p:cNvPr>
            <p:cNvSpPr/>
            <p:nvPr/>
          </p:nvSpPr>
          <p:spPr>
            <a:xfrm>
              <a:off x="4966149" y="977150"/>
              <a:ext cx="7141302" cy="5627054"/>
            </a:xfrm>
            <a:custGeom>
              <a:avLst/>
              <a:gdLst/>
              <a:ahLst/>
              <a:cxnLst/>
              <a:rect l="l" t="t" r="r" b="b"/>
              <a:pathLst>
                <a:path w="7620000" h="2244725">
                  <a:moveTo>
                    <a:pt x="0" y="0"/>
                  </a:moveTo>
                  <a:lnTo>
                    <a:pt x="7619611" y="0"/>
                  </a:lnTo>
                  <a:lnTo>
                    <a:pt x="7619611" y="2244460"/>
                  </a:lnTo>
                  <a:lnTo>
                    <a:pt x="0" y="224446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>
            <a:extLst>
              <a:ext uri="{FF2B5EF4-FFF2-40B4-BE49-F238E27FC236}">
                <a16:creationId xmlns:a16="http://schemas.microsoft.com/office/drawing/2014/main" id="{014C4273-140B-DDAD-9239-E188AC9BE63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6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5D10C99-0FF6-ED22-41B7-823495E84E50}"/>
                  </a:ext>
                </a:extLst>
              </p14:cNvPr>
              <p14:cNvContentPartPr/>
              <p14:nvPr/>
            </p14:nvContentPartPr>
            <p14:xfrm>
              <a:off x="3539450" y="6134628"/>
              <a:ext cx="565200" cy="108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5D10C99-0FF6-ED22-41B7-823495E84E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76450" y="6071628"/>
                <a:ext cx="69084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3F134BC-4634-BEE5-5D9A-CE64D7300ECC}"/>
                  </a:ext>
                </a:extLst>
              </p14:cNvPr>
              <p14:cNvContentPartPr/>
              <p14:nvPr/>
            </p14:nvContentPartPr>
            <p14:xfrm>
              <a:off x="3154680" y="6177120"/>
              <a:ext cx="1132920" cy="460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3F134BC-4634-BEE5-5D9A-CE64D7300EC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91680" y="6114120"/>
                <a:ext cx="1258560" cy="17172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70165D4A-AAD2-0A81-4A66-A3974DC9D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C78EA3-5E03-2773-5854-D09410E4C3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56589" y="-242763"/>
            <a:ext cx="1291612" cy="1291612"/>
          </a:xfrm>
          <a:prstGeom prst="rect">
            <a:avLst/>
          </a:prstGeom>
        </p:spPr>
      </p:pic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B0440C8-9855-5D62-53DE-29FB65E64BF5}"/>
              </a:ext>
            </a:extLst>
          </p:cNvPr>
          <p:cNvSpPr txBox="1">
            <a:spLocks/>
          </p:cNvSpPr>
          <p:nvPr/>
        </p:nvSpPr>
        <p:spPr>
          <a:xfrm>
            <a:off x="4648200" y="6356353"/>
            <a:ext cx="32040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prstClr val="white"/>
                </a:solidFill>
                <a:latin typeface="TradeGothic"/>
                <a:ea typeface="+mn-ea"/>
              </a:rPr>
              <a:t>@SIH Idea submission- Template</a:t>
            </a:r>
            <a:endParaRPr lang="en-US" sz="1200" dirty="0">
              <a:solidFill>
                <a:prstClr val="white"/>
              </a:solidFill>
              <a:latin typeface="TradeGothic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20C608-684C-169E-2306-0A098C8EA71B}"/>
              </a:ext>
            </a:extLst>
          </p:cNvPr>
          <p:cNvSpPr txBox="1"/>
          <p:nvPr/>
        </p:nvSpPr>
        <p:spPr>
          <a:xfrm>
            <a:off x="5808263" y="6449704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D4370EC-CD4D-4984-7672-A608EBF464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917" y="3832915"/>
            <a:ext cx="4889794" cy="232836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8745F9A-D019-1CC9-5222-3E42DD1C6C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6851" y="3384523"/>
            <a:ext cx="5496395" cy="2873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67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6206" y="6356353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94A35C-AF21-5592-EFA4-13056048DDA0}"/>
              </a:ext>
            </a:extLst>
          </p:cNvPr>
          <p:cNvSpPr txBox="1"/>
          <p:nvPr/>
        </p:nvSpPr>
        <p:spPr>
          <a:xfrm>
            <a:off x="411053" y="3246237"/>
            <a:ext cx="1029889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497EE7-377C-C384-5F55-9960639E3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6206" y="-121931"/>
            <a:ext cx="1291612" cy="129161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B825A1D-BB03-0527-4833-5F2C414CEFED}"/>
              </a:ext>
            </a:extLst>
          </p:cNvPr>
          <p:cNvSpPr/>
          <p:nvPr/>
        </p:nvSpPr>
        <p:spPr>
          <a:xfrm>
            <a:off x="304929" y="924684"/>
            <a:ext cx="11142667" cy="327052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dirty="0"/>
              <a:t>Research Papers And Articles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5"/>
              </a:rPr>
              <a:t>NSA Guidance</a:t>
            </a:r>
            <a:r>
              <a:rPr lang="en-U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:-Quantum Key Distribution (QKD) / Quantum Cryptography (QC)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6"/>
              </a:rPr>
              <a:t>Research Gate</a:t>
            </a:r>
            <a:r>
              <a:rPr lang="en-U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:-Integrating Quantum Key Distribution into Email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7"/>
              </a:rPr>
              <a:t>NIST</a:t>
            </a:r>
            <a:r>
              <a:rPr lang="en-U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:-NIST Post-Quantum Cryptography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8"/>
              </a:rPr>
              <a:t>Open Quantum Safe (OQS) Project</a:t>
            </a:r>
            <a:r>
              <a:rPr lang="en-U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:-The </a:t>
            </a:r>
            <a:r>
              <a:rPr lang="en-US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liboqs</a:t>
            </a:r>
            <a:r>
              <a:rPr lang="en-U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library is a key component for our PQC implementation (level 3).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9"/>
              </a:rPr>
              <a:t>QKD </a:t>
            </a:r>
            <a:r>
              <a:rPr lang="en-U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:-Safeguarding for the Future :- IEEE Communications Society article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hlinkClick r:id="rId10"/>
              </a:rPr>
              <a:t>QKD for Sustainable and Secure Communication</a:t>
            </a:r>
            <a:r>
              <a:rPr lang="en-US" sz="1600" dirty="0"/>
              <a:t>:- potential benefits of quantum key distribution (QKD) to provide secure communication channels.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hlinkClick r:id="rId11"/>
              </a:rPr>
              <a:t>Authentication of quantum key</a:t>
            </a:r>
            <a:r>
              <a:rPr lang="en-IN" sz="1600" dirty="0"/>
              <a:t>:-</a:t>
            </a:r>
            <a:r>
              <a:rPr lang="en-US" sz="1600" dirty="0"/>
              <a:t>distribution with post-quantum cryptography and replay attacks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hlinkClick r:id="rId12"/>
              </a:rPr>
              <a:t>Authentication of Variable Length Messages in Quantum Key Distribution</a:t>
            </a:r>
            <a:r>
              <a:rPr lang="en-US" sz="1600" dirty="0"/>
              <a:t>:-Authentication of variable length messages in QKD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hlinkClick r:id="rId13"/>
              </a:rPr>
              <a:t>Feasible Quantum Protocol for Identity-Based Signature with Application to Secure Email Communication </a:t>
            </a:r>
            <a:r>
              <a:rPr lang="en-US" sz="1600" dirty="0"/>
              <a:t>:</a:t>
            </a:r>
            <a:r>
              <a:rPr lang="en-US" sz="1600" i="1" dirty="0"/>
              <a:t>a quantum protocol for identity-based signatures (IBS) and simulates it using quantum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BC2190-9565-C9DB-7C73-13076CCB8059}"/>
              </a:ext>
            </a:extLst>
          </p:cNvPr>
          <p:cNvSpPr/>
          <p:nvPr/>
        </p:nvSpPr>
        <p:spPr>
          <a:xfrm>
            <a:off x="304930" y="4279797"/>
            <a:ext cx="11142667" cy="199196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/>
              <a:t>Standard Protocols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Key Standards &amp; Protocols: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ETSI GS QKD 014:</a:t>
            </a:r>
            <a:r>
              <a:rPr lang="en-US" sz="1400" dirty="0"/>
              <a:t> Quantum Key Distribution (QKD); Protocol and data format of REST-based key delivery API.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RFC 5321 &amp; 5322:</a:t>
            </a:r>
            <a:r>
              <a:rPr lang="en-US" sz="1400" dirty="0"/>
              <a:t> Simple Mail Transfer Protocol (SMTP).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RFC 3501:</a:t>
            </a:r>
            <a:r>
              <a:rPr lang="en-US" sz="1400" dirty="0"/>
              <a:t> Internet Message Access Protocol (IMAP).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Cryptographic References: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NIST Post-Quantum Cryptography (PQC) Standardization Project:</a:t>
            </a:r>
            <a:r>
              <a:rPr lang="en-US" sz="1400" dirty="0"/>
              <a:t> For selecting a suitable PQC algorithm (e.g., CRYSTALS-Kyber).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Advanced Encryption Standard (AES):</a:t>
            </a:r>
            <a:r>
              <a:rPr lang="en-US" sz="1400" dirty="0"/>
              <a:t> FIPS PUB 197.</a:t>
            </a:r>
          </a:p>
          <a:p>
            <a:pPr algn="ctr"/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9291</TotalTime>
  <Words>896</Words>
  <Application>Microsoft Office PowerPoint</Application>
  <PresentationFormat>Widescreen</PresentationFormat>
  <Paragraphs>93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Arial</vt:lpstr>
      <vt:lpstr>Calibri</vt:lpstr>
      <vt:lpstr>Calibri Light</vt:lpstr>
      <vt:lpstr>Garamond</vt:lpstr>
      <vt:lpstr>Nirmala UI</vt:lpstr>
      <vt:lpstr>Times New Roman</vt:lpstr>
      <vt:lpstr>TradeGothic</vt:lpstr>
      <vt:lpstr>Wingdings</vt:lpstr>
      <vt:lpstr>Office Theme</vt:lpstr>
      <vt:lpstr>SMART INDIA HACKATHON 2025</vt:lpstr>
      <vt:lpstr>Qu-Mail</vt:lpstr>
      <vt:lpstr>TECHNICAL APPROACH</vt:lpstr>
      <vt:lpstr>FEASIBILITY AND VIABILITY</vt:lpstr>
      <vt:lpstr>IMPACTS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harshit mishra</cp:lastModifiedBy>
  <cp:revision>156</cp:revision>
  <dcterms:created xsi:type="dcterms:W3CDTF">2013-12-12T18:46:50Z</dcterms:created>
  <dcterms:modified xsi:type="dcterms:W3CDTF">2025-09-25T00:17:11Z</dcterms:modified>
  <cp:category/>
</cp:coreProperties>
</file>