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F66197-2586-4EA9-B89E-FA959977EEEF}" v="31" dt="2025-09-24T07:43:48.7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 mishra" userId="b42b32ded276d5d8" providerId="LiveId" clId="{F4F8423F-A5D7-4C37-A36F-31D798F1BAAA}"/>
    <pc:docChg chg="undo custSel addSld delSld modSld sldOrd">
      <pc:chgData name="harshit mishra" userId="b42b32ded276d5d8" providerId="LiveId" clId="{F4F8423F-A5D7-4C37-A36F-31D798F1BAAA}" dt="2025-09-24T07:48:21.653" v="1185" actId="14100"/>
      <pc:docMkLst>
        <pc:docMk/>
      </pc:docMkLst>
      <pc:sldChg chg="addSp delSp modSp mod ord">
        <pc:chgData name="harshit mishra" userId="b42b32ded276d5d8" providerId="LiveId" clId="{F4F8423F-A5D7-4C37-A36F-31D798F1BAAA}" dt="2025-09-24T07:45:53.877" v="1081"/>
        <pc:sldMkLst>
          <pc:docMk/>
          <pc:sldMk cId="0" sldId="257"/>
        </pc:sldMkLst>
        <pc:spChg chg="add">
          <ac:chgData name="harshit mishra" userId="b42b32ded276d5d8" providerId="LiveId" clId="{F4F8423F-A5D7-4C37-A36F-31D798F1BAAA}" dt="2025-09-24T06:52:05.586" v="30"/>
          <ac:spMkLst>
            <pc:docMk/>
            <pc:sldMk cId="0" sldId="257"/>
            <ac:spMk id="3" creationId="{B9B5EDF3-7BEC-DEA7-96A9-A55846CB5AB3}"/>
          </ac:spMkLst>
        </pc:spChg>
        <pc:spChg chg="add">
          <ac:chgData name="harshit mishra" userId="b42b32ded276d5d8" providerId="LiveId" clId="{F4F8423F-A5D7-4C37-A36F-31D798F1BAAA}" dt="2025-09-24T07:15:36.366" v="410"/>
          <ac:spMkLst>
            <pc:docMk/>
            <pc:sldMk cId="0" sldId="257"/>
            <ac:spMk id="4" creationId="{7E10E2BD-BE4A-8200-66D4-740D894E39A2}"/>
          </ac:spMkLst>
        </pc:spChg>
        <pc:spChg chg="mod">
          <ac:chgData name="harshit mishra" userId="b42b32ded276d5d8" providerId="LiveId" clId="{F4F8423F-A5D7-4C37-A36F-31D798F1BAAA}" dt="2025-09-24T07:45:40.410" v="1078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harshit mishra" userId="b42b32ded276d5d8" providerId="LiveId" clId="{F4F8423F-A5D7-4C37-A36F-31D798F1BAAA}" dt="2025-09-24T07:44:33.517" v="1072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harshit mishra" userId="b42b32ded276d5d8" providerId="LiveId" clId="{F4F8423F-A5D7-4C37-A36F-31D798F1BAAA}" dt="2025-09-24T07:25:45.478" v="943" actId="113"/>
          <ac:spMkLst>
            <pc:docMk/>
            <pc:sldMk cId="0" sldId="257"/>
            <ac:spMk id="8" creationId="{00000000-0000-0000-0000-000000000000}"/>
          </ac:spMkLst>
        </pc:spChg>
        <pc:spChg chg="mod">
          <ac:chgData name="harshit mishra" userId="b42b32ded276d5d8" providerId="LiveId" clId="{F4F8423F-A5D7-4C37-A36F-31D798F1BAAA}" dt="2025-09-24T07:44:53.067" v="1075" actId="1076"/>
          <ac:spMkLst>
            <pc:docMk/>
            <pc:sldMk cId="0" sldId="257"/>
            <ac:spMk id="9" creationId="{00000000-0000-0000-0000-000000000000}"/>
          </ac:spMkLst>
        </pc:spChg>
        <pc:spChg chg="add">
          <ac:chgData name="harshit mishra" userId="b42b32ded276d5d8" providerId="LiveId" clId="{F4F8423F-A5D7-4C37-A36F-31D798F1BAAA}" dt="2025-09-24T07:16:30.321" v="444"/>
          <ac:spMkLst>
            <pc:docMk/>
            <pc:sldMk cId="0" sldId="257"/>
            <ac:spMk id="11" creationId="{22B193F8-ED03-F87B-ECE0-BF7CD1B86993}"/>
          </ac:spMkLst>
        </pc:spChg>
        <pc:spChg chg="add">
          <ac:chgData name="harshit mishra" userId="b42b32ded276d5d8" providerId="LiveId" clId="{F4F8423F-A5D7-4C37-A36F-31D798F1BAAA}" dt="2025-09-24T07:16:36.591" v="445"/>
          <ac:spMkLst>
            <pc:docMk/>
            <pc:sldMk cId="0" sldId="257"/>
            <ac:spMk id="16" creationId="{32947669-A27D-BD27-7CFA-143DC2730D43}"/>
          </ac:spMkLst>
        </pc:spChg>
        <pc:spChg chg="add">
          <ac:chgData name="harshit mishra" userId="b42b32ded276d5d8" providerId="LiveId" clId="{F4F8423F-A5D7-4C37-A36F-31D798F1BAAA}" dt="2025-09-24T07:16:44.044" v="448"/>
          <ac:spMkLst>
            <pc:docMk/>
            <pc:sldMk cId="0" sldId="257"/>
            <ac:spMk id="18" creationId="{2C18BF91-9306-11CA-7E10-B4FE48712EBF}"/>
          </ac:spMkLst>
        </pc:spChg>
        <pc:spChg chg="add">
          <ac:chgData name="harshit mishra" userId="b42b32ded276d5d8" providerId="LiveId" clId="{F4F8423F-A5D7-4C37-A36F-31D798F1BAAA}" dt="2025-09-24T07:16:56.185" v="478"/>
          <ac:spMkLst>
            <pc:docMk/>
            <pc:sldMk cId="0" sldId="257"/>
            <ac:spMk id="19" creationId="{4F748837-8EBE-F982-3665-17CCA910C9CF}"/>
          </ac:spMkLst>
        </pc:spChg>
        <pc:grpChg chg="mod">
          <ac:chgData name="harshit mishra" userId="b42b32ded276d5d8" providerId="LiveId" clId="{F4F8423F-A5D7-4C37-A36F-31D798F1BAAA}" dt="2025-09-24T07:44:46.628" v="1074" actId="1076"/>
          <ac:grpSpMkLst>
            <pc:docMk/>
            <pc:sldMk cId="0" sldId="257"/>
            <ac:grpSpMk id="10" creationId="{00000000-0000-0000-0000-000000000000}"/>
          </ac:grpSpMkLst>
        </pc:grpChg>
        <pc:picChg chg="del mod">
          <ac:chgData name="harshit mishra" userId="b42b32ded276d5d8" providerId="LiveId" clId="{F4F8423F-A5D7-4C37-A36F-31D798F1BAAA}" dt="2025-09-24T07:13:45.265" v="257" actId="478"/>
          <ac:picMkLst>
            <pc:docMk/>
            <pc:sldMk cId="0" sldId="257"/>
            <ac:picMk id="13" creationId="{00000000-0000-0000-0000-000000000000}"/>
          </ac:picMkLst>
        </pc:picChg>
        <pc:picChg chg="del mod">
          <ac:chgData name="harshit mishra" userId="b42b32ded276d5d8" providerId="LiveId" clId="{F4F8423F-A5D7-4C37-A36F-31D798F1BAAA}" dt="2025-09-24T07:28:47.108" v="946" actId="478"/>
          <ac:picMkLst>
            <pc:docMk/>
            <pc:sldMk cId="0" sldId="257"/>
            <ac:picMk id="15" creationId="{00000000-0000-0000-0000-000000000000}"/>
          </ac:picMkLst>
        </pc:picChg>
      </pc:sldChg>
      <pc:sldChg chg="modSp add mod">
        <pc:chgData name="harshit mishra" userId="b42b32ded276d5d8" providerId="LiveId" clId="{F4F8423F-A5D7-4C37-A36F-31D798F1BAAA}" dt="2025-09-24T07:48:21.653" v="1185" actId="14100"/>
        <pc:sldMkLst>
          <pc:docMk/>
          <pc:sldMk cId="390067242" sldId="258"/>
        </pc:sldMkLst>
        <pc:spChg chg="mod">
          <ac:chgData name="harshit mishra" userId="b42b32ded276d5d8" providerId="LiveId" clId="{F4F8423F-A5D7-4C37-A36F-31D798F1BAAA}" dt="2025-09-24T07:48:21.653" v="1185" actId="14100"/>
          <ac:spMkLst>
            <pc:docMk/>
            <pc:sldMk cId="390067242" sldId="258"/>
            <ac:spMk id="2" creationId="{F882F65B-503B-76ED-F164-BB6AB2951B8C}"/>
          </ac:spMkLst>
        </pc:spChg>
      </pc:sldChg>
      <pc:sldChg chg="new del">
        <pc:chgData name="harshit mishra" userId="b42b32ded276d5d8" providerId="LiveId" clId="{F4F8423F-A5D7-4C37-A36F-31D798F1BAAA}" dt="2025-09-24T07:46:20.045" v="1082" actId="2696"/>
        <pc:sldMkLst>
          <pc:docMk/>
          <pc:sldMk cId="1562963366" sldId="258"/>
        </pc:sldMkLst>
      </pc:sldChg>
      <pc:sldChg chg="del">
        <pc:chgData name="harshit mishra" userId="b42b32ded276d5d8" providerId="LiveId" clId="{F4F8423F-A5D7-4C37-A36F-31D798F1BAAA}" dt="2025-09-23T13:55:35.518" v="0" actId="2696"/>
        <pc:sldMkLst>
          <pc:docMk/>
          <pc:sldMk cId="0" sldId="260"/>
        </pc:sldMkLst>
      </pc:sldChg>
      <pc:sldChg chg="del">
        <pc:chgData name="harshit mishra" userId="b42b32ded276d5d8" providerId="LiveId" clId="{F4F8423F-A5D7-4C37-A36F-31D798F1BAAA}" dt="2025-09-23T13:55:39.019" v="1" actId="2696"/>
        <pc:sldMkLst>
          <pc:docMk/>
          <pc:sldMk cId="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2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2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2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2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2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7761"/>
            <a:ext cx="12191998" cy="4802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4762"/>
            <a:ext cx="12192000" cy="503555"/>
          </a:xfrm>
          <a:custGeom>
            <a:avLst/>
            <a:gdLst/>
            <a:ahLst/>
            <a:cxnLst/>
            <a:rect l="l" t="t" r="r" b="b"/>
            <a:pathLst>
              <a:path w="12192000" h="503554">
                <a:moveTo>
                  <a:pt x="12191998" y="0"/>
                </a:moveTo>
                <a:lnTo>
                  <a:pt x="0" y="0"/>
                </a:lnTo>
                <a:lnTo>
                  <a:pt x="0" y="503238"/>
                </a:lnTo>
                <a:lnTo>
                  <a:pt x="12191998" y="503238"/>
                </a:lnTo>
                <a:lnTo>
                  <a:pt x="12191998" y="0"/>
                </a:lnTo>
                <a:close/>
              </a:path>
            </a:pathLst>
          </a:custGeom>
          <a:solidFill>
            <a:srgbClr val="007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044" y="147265"/>
            <a:ext cx="808609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0025" y="1207398"/>
            <a:ext cx="6337300" cy="156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13822" y="6462715"/>
            <a:ext cx="17399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2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6779" y="851520"/>
            <a:ext cx="4638675" cy="5155565"/>
            <a:chOff x="5656779" y="851520"/>
            <a:chExt cx="4638675" cy="5155565"/>
          </a:xfrm>
        </p:grpSpPr>
        <p:sp>
          <p:nvSpPr>
            <p:cNvPr id="3" name="object 3"/>
            <p:cNvSpPr/>
            <p:nvPr/>
          </p:nvSpPr>
          <p:spPr>
            <a:xfrm>
              <a:off x="5656779" y="851520"/>
              <a:ext cx="4638675" cy="5155565"/>
            </a:xfrm>
            <a:custGeom>
              <a:avLst/>
              <a:gdLst/>
              <a:ahLst/>
              <a:cxnLst/>
              <a:rect l="l" t="t" r="r" b="b"/>
              <a:pathLst>
                <a:path w="4638675" h="5155565">
                  <a:moveTo>
                    <a:pt x="1873246" y="0"/>
                  </a:moveTo>
                  <a:lnTo>
                    <a:pt x="1179951" y="0"/>
                  </a:lnTo>
                  <a:lnTo>
                    <a:pt x="1147313" y="5781"/>
                  </a:lnTo>
                  <a:lnTo>
                    <a:pt x="1092143" y="48673"/>
                  </a:lnTo>
                  <a:lnTo>
                    <a:pt x="1072139" y="83545"/>
                  </a:lnTo>
                  <a:lnTo>
                    <a:pt x="726239" y="881195"/>
                  </a:lnTo>
                  <a:lnTo>
                    <a:pt x="713605" y="920669"/>
                  </a:lnTo>
                  <a:lnTo>
                    <a:pt x="709394" y="962752"/>
                  </a:lnTo>
                  <a:lnTo>
                    <a:pt x="713605" y="1004835"/>
                  </a:lnTo>
                  <a:lnTo>
                    <a:pt x="726239" y="1044307"/>
                  </a:lnTo>
                  <a:lnTo>
                    <a:pt x="1072139" y="1841959"/>
                  </a:lnTo>
                  <a:lnTo>
                    <a:pt x="1092144" y="1876832"/>
                  </a:lnTo>
                  <a:lnTo>
                    <a:pt x="1118530" y="1903633"/>
                  </a:lnTo>
                  <a:lnTo>
                    <a:pt x="786932" y="2668304"/>
                  </a:lnTo>
                  <a:lnTo>
                    <a:pt x="769383" y="2714133"/>
                  </a:lnTo>
                  <a:lnTo>
                    <a:pt x="756848" y="2762294"/>
                  </a:lnTo>
                  <a:lnTo>
                    <a:pt x="749327" y="2812008"/>
                  </a:lnTo>
                  <a:lnTo>
                    <a:pt x="746820" y="2862500"/>
                  </a:lnTo>
                  <a:lnTo>
                    <a:pt x="749327" y="2912992"/>
                  </a:lnTo>
                  <a:lnTo>
                    <a:pt x="756848" y="2962707"/>
                  </a:lnTo>
                  <a:lnTo>
                    <a:pt x="769383" y="3010868"/>
                  </a:lnTo>
                  <a:lnTo>
                    <a:pt x="786932" y="3056698"/>
                  </a:lnTo>
                  <a:lnTo>
                    <a:pt x="1610571" y="4956034"/>
                  </a:lnTo>
                  <a:lnTo>
                    <a:pt x="1636018" y="5005830"/>
                  </a:lnTo>
                  <a:lnTo>
                    <a:pt x="1666144" y="5049328"/>
                  </a:lnTo>
                  <a:lnTo>
                    <a:pt x="1700386" y="5086032"/>
                  </a:lnTo>
                  <a:lnTo>
                    <a:pt x="1738182" y="5115445"/>
                  </a:lnTo>
                  <a:lnTo>
                    <a:pt x="1778973" y="5137070"/>
                  </a:lnTo>
                  <a:lnTo>
                    <a:pt x="1822196" y="5150410"/>
                  </a:lnTo>
                  <a:lnTo>
                    <a:pt x="1867290" y="5154966"/>
                  </a:lnTo>
                  <a:lnTo>
                    <a:pt x="3518134" y="5154966"/>
                  </a:lnTo>
                  <a:lnTo>
                    <a:pt x="3562095" y="5150410"/>
                  </a:lnTo>
                  <a:lnTo>
                    <a:pt x="3604809" y="5137070"/>
                  </a:lnTo>
                  <a:lnTo>
                    <a:pt x="3645464" y="5115445"/>
                  </a:lnTo>
                  <a:lnTo>
                    <a:pt x="3683251" y="5086032"/>
                  </a:lnTo>
                  <a:lnTo>
                    <a:pt x="3717357" y="5049328"/>
                  </a:lnTo>
                  <a:lnTo>
                    <a:pt x="3746973" y="5005830"/>
                  </a:lnTo>
                  <a:lnTo>
                    <a:pt x="3771288" y="4956034"/>
                  </a:lnTo>
                  <a:lnTo>
                    <a:pt x="4598492" y="3056698"/>
                  </a:lnTo>
                  <a:lnTo>
                    <a:pt x="4616041" y="3010868"/>
                  </a:lnTo>
                  <a:lnTo>
                    <a:pt x="4628576" y="2962707"/>
                  </a:lnTo>
                  <a:lnTo>
                    <a:pt x="4636097" y="2912992"/>
                  </a:lnTo>
                  <a:lnTo>
                    <a:pt x="4638604" y="2862500"/>
                  </a:lnTo>
                  <a:lnTo>
                    <a:pt x="4636097" y="2812008"/>
                  </a:lnTo>
                  <a:lnTo>
                    <a:pt x="4628576" y="2762294"/>
                  </a:lnTo>
                  <a:lnTo>
                    <a:pt x="4616041" y="2714133"/>
                  </a:lnTo>
                  <a:lnTo>
                    <a:pt x="4598492" y="2668304"/>
                  </a:lnTo>
                  <a:lnTo>
                    <a:pt x="4270920" y="1916169"/>
                  </a:lnTo>
                  <a:lnTo>
                    <a:pt x="1177013" y="1916169"/>
                  </a:lnTo>
                  <a:lnTo>
                    <a:pt x="1168646" y="1915799"/>
                  </a:lnTo>
                  <a:lnTo>
                    <a:pt x="1160405" y="1914701"/>
                  </a:lnTo>
                  <a:lnTo>
                    <a:pt x="1152308" y="1912892"/>
                  </a:lnTo>
                  <a:lnTo>
                    <a:pt x="1144376" y="1910389"/>
                  </a:lnTo>
                  <a:lnTo>
                    <a:pt x="1125080" y="1899603"/>
                  </a:lnTo>
                  <a:lnTo>
                    <a:pt x="1168695" y="1799028"/>
                  </a:lnTo>
                  <a:lnTo>
                    <a:pt x="1164029" y="1796421"/>
                  </a:lnTo>
                  <a:lnTo>
                    <a:pt x="1131897" y="1758542"/>
                  </a:lnTo>
                  <a:lnTo>
                    <a:pt x="817057" y="1035053"/>
                  </a:lnTo>
                  <a:lnTo>
                    <a:pt x="802123" y="962752"/>
                  </a:lnTo>
                  <a:lnTo>
                    <a:pt x="805856" y="925444"/>
                  </a:lnTo>
                  <a:lnTo>
                    <a:pt x="1123706" y="183309"/>
                  </a:lnTo>
                  <a:lnTo>
                    <a:pt x="1164029" y="129082"/>
                  </a:lnTo>
                  <a:lnTo>
                    <a:pt x="1219285" y="109242"/>
                  </a:lnTo>
                  <a:lnTo>
                    <a:pt x="1990752" y="109242"/>
                  </a:lnTo>
                  <a:lnTo>
                    <a:pt x="1979561" y="83545"/>
                  </a:lnTo>
                  <a:lnTo>
                    <a:pt x="1960211" y="48673"/>
                  </a:lnTo>
                  <a:lnTo>
                    <a:pt x="1934826" y="22378"/>
                  </a:lnTo>
                  <a:lnTo>
                    <a:pt x="1905229" y="5781"/>
                  </a:lnTo>
                  <a:lnTo>
                    <a:pt x="1873246" y="0"/>
                  </a:lnTo>
                  <a:close/>
                </a:path>
                <a:path w="4638675" h="5155565">
                  <a:moveTo>
                    <a:pt x="673702" y="3125190"/>
                  </a:moveTo>
                  <a:lnTo>
                    <a:pt x="272383" y="3125190"/>
                  </a:lnTo>
                  <a:lnTo>
                    <a:pt x="253491" y="3128537"/>
                  </a:lnTo>
                  <a:lnTo>
                    <a:pt x="221557" y="3153365"/>
                  </a:lnTo>
                  <a:lnTo>
                    <a:pt x="9751" y="3635277"/>
                  </a:lnTo>
                  <a:lnTo>
                    <a:pt x="0" y="3682485"/>
                  </a:lnTo>
                  <a:lnTo>
                    <a:pt x="2437" y="3706845"/>
                  </a:lnTo>
                  <a:lnTo>
                    <a:pt x="209977" y="4191420"/>
                  </a:lnTo>
                  <a:lnTo>
                    <a:pt x="236305" y="4226827"/>
                  </a:lnTo>
                  <a:lnTo>
                    <a:pt x="272383" y="4239780"/>
                  </a:lnTo>
                  <a:lnTo>
                    <a:pt x="673702" y="4239780"/>
                  </a:lnTo>
                  <a:lnTo>
                    <a:pt x="724043" y="4211606"/>
                  </a:lnTo>
                  <a:lnTo>
                    <a:pt x="936336" y="3729695"/>
                  </a:lnTo>
                  <a:lnTo>
                    <a:pt x="946087" y="3682485"/>
                  </a:lnTo>
                  <a:lnTo>
                    <a:pt x="943649" y="3658125"/>
                  </a:lnTo>
                  <a:lnTo>
                    <a:pt x="735244" y="3173550"/>
                  </a:lnTo>
                  <a:lnTo>
                    <a:pt x="709349" y="3138144"/>
                  </a:lnTo>
                  <a:lnTo>
                    <a:pt x="673702" y="3125190"/>
                  </a:lnTo>
                  <a:close/>
                </a:path>
                <a:path w="4638675" h="5155565">
                  <a:moveTo>
                    <a:pt x="3518134" y="570034"/>
                  </a:moveTo>
                  <a:lnTo>
                    <a:pt x="2192566" y="570034"/>
                  </a:lnTo>
                  <a:lnTo>
                    <a:pt x="2324020" y="871862"/>
                  </a:lnTo>
                  <a:lnTo>
                    <a:pt x="2336654" y="911335"/>
                  </a:lnTo>
                  <a:lnTo>
                    <a:pt x="2340865" y="953419"/>
                  </a:lnTo>
                  <a:lnTo>
                    <a:pt x="2336654" y="995502"/>
                  </a:lnTo>
                  <a:lnTo>
                    <a:pt x="2323985" y="1035053"/>
                  </a:lnTo>
                  <a:lnTo>
                    <a:pt x="1976623" y="1832626"/>
                  </a:lnTo>
                  <a:lnTo>
                    <a:pt x="1957274" y="1867498"/>
                  </a:lnTo>
                  <a:lnTo>
                    <a:pt x="1902287" y="1910389"/>
                  </a:lnTo>
                  <a:lnTo>
                    <a:pt x="1870309" y="1916169"/>
                  </a:lnTo>
                  <a:lnTo>
                    <a:pt x="4270920" y="1916169"/>
                  </a:lnTo>
                  <a:lnTo>
                    <a:pt x="3771288" y="768968"/>
                  </a:lnTo>
                  <a:lnTo>
                    <a:pt x="3746973" y="719172"/>
                  </a:lnTo>
                  <a:lnTo>
                    <a:pt x="3717357" y="675674"/>
                  </a:lnTo>
                  <a:lnTo>
                    <a:pt x="3683251" y="638969"/>
                  </a:lnTo>
                  <a:lnTo>
                    <a:pt x="3645464" y="609556"/>
                  </a:lnTo>
                  <a:lnTo>
                    <a:pt x="3604809" y="587931"/>
                  </a:lnTo>
                  <a:lnTo>
                    <a:pt x="3562095" y="574591"/>
                  </a:lnTo>
                  <a:lnTo>
                    <a:pt x="3518134" y="570034"/>
                  </a:lnTo>
                  <a:close/>
                </a:path>
                <a:path w="4638675" h="5155565">
                  <a:moveTo>
                    <a:pt x="2097719" y="570034"/>
                  </a:moveTo>
                  <a:lnTo>
                    <a:pt x="1867290" y="570034"/>
                  </a:lnTo>
                  <a:lnTo>
                    <a:pt x="1822196" y="574591"/>
                  </a:lnTo>
                  <a:lnTo>
                    <a:pt x="1778973" y="587931"/>
                  </a:lnTo>
                  <a:lnTo>
                    <a:pt x="1738182" y="609556"/>
                  </a:lnTo>
                  <a:lnTo>
                    <a:pt x="1700386" y="638969"/>
                  </a:lnTo>
                  <a:lnTo>
                    <a:pt x="1666144" y="675674"/>
                  </a:lnTo>
                  <a:lnTo>
                    <a:pt x="1636018" y="719172"/>
                  </a:lnTo>
                  <a:lnTo>
                    <a:pt x="1610571" y="768968"/>
                  </a:lnTo>
                  <a:lnTo>
                    <a:pt x="1167512" y="1790677"/>
                  </a:lnTo>
                  <a:lnTo>
                    <a:pt x="1187413" y="1801802"/>
                  </a:lnTo>
                  <a:lnTo>
                    <a:pt x="1194446" y="1804020"/>
                  </a:lnTo>
                  <a:lnTo>
                    <a:pt x="1201624" y="1805624"/>
                  </a:lnTo>
                  <a:lnTo>
                    <a:pt x="1208930" y="1806598"/>
                  </a:lnTo>
                  <a:lnTo>
                    <a:pt x="1216348" y="1806926"/>
                  </a:lnTo>
                  <a:lnTo>
                    <a:pt x="1830974" y="1806926"/>
                  </a:lnTo>
                  <a:lnTo>
                    <a:pt x="1885567" y="1787087"/>
                  </a:lnTo>
                  <a:lnTo>
                    <a:pt x="1925226" y="1732862"/>
                  </a:lnTo>
                  <a:lnTo>
                    <a:pt x="2233202" y="1025719"/>
                  </a:lnTo>
                  <a:lnTo>
                    <a:pt x="2248137" y="953419"/>
                  </a:lnTo>
                  <a:lnTo>
                    <a:pt x="2244403" y="916110"/>
                  </a:lnTo>
                  <a:lnTo>
                    <a:pt x="2233228" y="881195"/>
                  </a:lnTo>
                  <a:lnTo>
                    <a:pt x="2097719" y="570034"/>
                  </a:lnTo>
                  <a:close/>
                </a:path>
                <a:path w="4638675" h="5155565">
                  <a:moveTo>
                    <a:pt x="1990752" y="109242"/>
                  </a:moveTo>
                  <a:lnTo>
                    <a:pt x="1833912" y="109242"/>
                  </a:lnTo>
                  <a:lnTo>
                    <a:pt x="1862266" y="114367"/>
                  </a:lnTo>
                  <a:lnTo>
                    <a:pt x="1888504" y="129082"/>
                  </a:lnTo>
                  <a:lnTo>
                    <a:pt x="1911009" y="152393"/>
                  </a:lnTo>
                  <a:lnTo>
                    <a:pt x="1928164" y="183309"/>
                  </a:lnTo>
                  <a:lnTo>
                    <a:pt x="2092099" y="559719"/>
                  </a:lnTo>
                  <a:lnTo>
                    <a:pt x="2186945" y="559719"/>
                  </a:lnTo>
                  <a:lnTo>
                    <a:pt x="1990752" y="109242"/>
                  </a:lnTo>
                  <a:close/>
                </a:path>
              </a:pathLst>
            </a:custGeom>
            <a:solidFill>
              <a:srgbClr val="7F7F7F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9463" y="1824495"/>
              <a:ext cx="3203508" cy="342623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20" dirty="0">
                <a:solidFill>
                  <a:srgbClr val="1F497D"/>
                </a:solidFill>
              </a:rPr>
              <a:t>SMART</a:t>
            </a:r>
            <a:r>
              <a:rPr sz="4000" spc="-20" dirty="0">
                <a:solidFill>
                  <a:srgbClr val="1F497D"/>
                </a:solidFill>
              </a:rPr>
              <a:t> </a:t>
            </a:r>
            <a:r>
              <a:rPr sz="4000" spc="85" dirty="0">
                <a:solidFill>
                  <a:srgbClr val="1F497D"/>
                </a:solidFill>
              </a:rPr>
              <a:t>INDIA</a:t>
            </a:r>
            <a:r>
              <a:rPr sz="4000" spc="-15" dirty="0">
                <a:solidFill>
                  <a:srgbClr val="1F497D"/>
                </a:solidFill>
              </a:rPr>
              <a:t> </a:t>
            </a:r>
            <a:r>
              <a:rPr sz="4000" dirty="0">
                <a:solidFill>
                  <a:srgbClr val="1F497D"/>
                </a:solidFill>
              </a:rPr>
              <a:t>HACKATHON</a:t>
            </a:r>
            <a:r>
              <a:rPr sz="4000" spc="-20" dirty="0">
                <a:solidFill>
                  <a:srgbClr val="1F497D"/>
                </a:solidFill>
              </a:rPr>
              <a:t> </a:t>
            </a:r>
            <a:r>
              <a:rPr sz="4000" spc="-45" dirty="0">
                <a:solidFill>
                  <a:srgbClr val="1F497D"/>
                </a:solidFill>
              </a:rPr>
              <a:t>2024</a:t>
            </a:r>
            <a:endParaRPr sz="400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81120">
              <a:lnSpc>
                <a:spcPct val="100000"/>
              </a:lnSpc>
              <a:spcBef>
                <a:spcPts val="100"/>
              </a:spcBef>
            </a:pPr>
            <a:r>
              <a:rPr dirty="0"/>
              <a:t>TITLE</a:t>
            </a:r>
            <a:r>
              <a:rPr spc="-105" dirty="0"/>
              <a:t> </a:t>
            </a:r>
            <a:r>
              <a:rPr spc="-30" dirty="0"/>
              <a:t>PAGE</a:t>
            </a: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pc="-30" dirty="0"/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400" dirty="0">
                <a:latin typeface="Arial"/>
                <a:cs typeface="Arial"/>
              </a:rPr>
              <a:t>Problem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Statement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ID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1664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25" y="3079034"/>
            <a:ext cx="3896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Title-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025" y="3780264"/>
            <a:ext cx="1395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spc="-10" dirty="0">
                <a:latin typeface="Arial"/>
                <a:cs typeface="Arial"/>
              </a:rPr>
              <a:t>Theme-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025" y="4481492"/>
            <a:ext cx="3597275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dirty="0">
                <a:latin typeface="Arial"/>
                <a:cs typeface="Arial"/>
              </a:rPr>
              <a:t>PS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Category-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Software</a:t>
            </a:r>
            <a:endParaRPr sz="24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64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spc="-25" dirty="0">
                <a:latin typeface="Arial"/>
                <a:cs typeface="Arial"/>
              </a:rPr>
              <a:t>Team</a:t>
            </a:r>
            <a:r>
              <a:rPr sz="2400" b="1" spc="-13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ID-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025" y="5883949"/>
            <a:ext cx="5353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2400" b="1" spc="-25" dirty="0">
                <a:latin typeface="Arial"/>
                <a:cs typeface="Arial"/>
              </a:rPr>
              <a:t>Team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Name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(Registered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on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portal)-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02428" y="81375"/>
            <a:ext cx="7548245" cy="3639820"/>
            <a:chOff x="4502428" y="81375"/>
            <a:chExt cx="7548245" cy="363982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03911" y="81375"/>
              <a:ext cx="2246575" cy="11490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02417" y="3136899"/>
              <a:ext cx="6551295" cy="584200"/>
            </a:xfrm>
            <a:custGeom>
              <a:avLst/>
              <a:gdLst/>
              <a:ahLst/>
              <a:cxnLst/>
              <a:rect l="l" t="t" r="r" b="b"/>
              <a:pathLst>
                <a:path w="6551295" h="584200">
                  <a:moveTo>
                    <a:pt x="6551155" y="0"/>
                  </a:moveTo>
                  <a:lnTo>
                    <a:pt x="0" y="0"/>
                  </a:lnTo>
                  <a:lnTo>
                    <a:pt x="0" y="292100"/>
                  </a:lnTo>
                  <a:lnTo>
                    <a:pt x="0" y="584200"/>
                  </a:lnTo>
                  <a:lnTo>
                    <a:pt x="2558694" y="584200"/>
                  </a:lnTo>
                  <a:lnTo>
                    <a:pt x="2558694" y="292100"/>
                  </a:lnTo>
                  <a:lnTo>
                    <a:pt x="6551155" y="292100"/>
                  </a:lnTo>
                  <a:lnTo>
                    <a:pt x="65511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89728" y="3130550"/>
            <a:ext cx="652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12529"/>
                </a:solidFill>
                <a:latin typeface="Times New Roman"/>
                <a:cs typeface="Times New Roman"/>
              </a:rPr>
              <a:t>Develop</a:t>
            </a:r>
            <a:r>
              <a:rPr sz="1800" spc="-65" dirty="0">
                <a:solidFill>
                  <a:srgbClr val="2125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12529"/>
                </a:solidFill>
                <a:latin typeface="Times New Roman"/>
                <a:cs typeface="Times New Roman"/>
              </a:rPr>
              <a:t>Software</a:t>
            </a:r>
            <a:r>
              <a:rPr sz="1800" spc="-65" dirty="0">
                <a:solidFill>
                  <a:srgbClr val="2125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12529"/>
                </a:solidFill>
                <a:latin typeface="Times New Roman"/>
                <a:cs typeface="Times New Roman"/>
              </a:rPr>
              <a:t>Solutions</a:t>
            </a:r>
            <a:r>
              <a:rPr sz="1800" spc="-60" dirty="0">
                <a:solidFill>
                  <a:srgbClr val="2125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12529"/>
                </a:solidFill>
                <a:latin typeface="Times New Roman"/>
                <a:cs typeface="Times New Roman"/>
              </a:rPr>
              <a:t>to</a:t>
            </a:r>
            <a:r>
              <a:rPr sz="1800" spc="-60" dirty="0">
                <a:solidFill>
                  <a:srgbClr val="2125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12529"/>
                </a:solidFill>
                <a:latin typeface="Times New Roman"/>
                <a:cs typeface="Times New Roman"/>
              </a:rPr>
              <a:t>Enhance</a:t>
            </a:r>
            <a:r>
              <a:rPr sz="1800" spc="-70" dirty="0">
                <a:solidFill>
                  <a:srgbClr val="2125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12529"/>
                </a:solidFill>
                <a:latin typeface="Times New Roman"/>
                <a:cs typeface="Times New Roman"/>
              </a:rPr>
              <a:t>Educational</a:t>
            </a:r>
            <a:r>
              <a:rPr sz="1800" spc="-65" dirty="0">
                <a:solidFill>
                  <a:srgbClr val="2125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12529"/>
                </a:solidFill>
                <a:latin typeface="Times New Roman"/>
                <a:cs typeface="Times New Roman"/>
              </a:rPr>
              <a:t>Infrastructure</a:t>
            </a:r>
            <a:r>
              <a:rPr sz="1800" spc="-65" dirty="0">
                <a:solidFill>
                  <a:srgbClr val="212529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212529"/>
                </a:solidFill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89728" y="3422650"/>
            <a:ext cx="2584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12529"/>
                </a:solidFill>
                <a:latin typeface="Times New Roman"/>
                <a:cs typeface="Times New Roman"/>
              </a:rPr>
              <a:t>Connectivity</a:t>
            </a:r>
            <a:r>
              <a:rPr sz="1800" spc="-50" dirty="0">
                <a:solidFill>
                  <a:srgbClr val="212529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212529"/>
                </a:solidFill>
                <a:latin typeface="Times New Roman"/>
                <a:cs typeface="Times New Roman"/>
              </a:rPr>
              <a:t>in</a:t>
            </a:r>
            <a:r>
              <a:rPr sz="1800" spc="-30" dirty="0">
                <a:solidFill>
                  <a:srgbClr val="212529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212529"/>
                </a:solidFill>
                <a:latin typeface="Times New Roman"/>
                <a:cs typeface="Times New Roman"/>
              </a:rPr>
              <a:t>Rural</a:t>
            </a:r>
            <a:r>
              <a:rPr sz="1800" spc="-100" dirty="0">
                <a:solidFill>
                  <a:srgbClr val="212529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212529"/>
                </a:solidFill>
                <a:latin typeface="Times New Roman"/>
                <a:cs typeface="Times New Roman"/>
              </a:rPr>
              <a:t>Areas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7867" y="3863977"/>
            <a:ext cx="1467485" cy="304800"/>
          </a:xfrm>
          <a:prstGeom prst="rect">
            <a:avLst/>
          </a:prstGeom>
          <a:solidFill>
            <a:srgbClr val="000000">
              <a:alpha val="195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sz="2000" spc="-10" dirty="0">
                <a:solidFill>
                  <a:srgbClr val="212529"/>
                </a:solidFill>
                <a:latin typeface="Times New Roman"/>
                <a:cs typeface="Times New Roman"/>
              </a:rPr>
              <a:t>Miscellaneous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83180" y="5902871"/>
            <a:ext cx="1113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DevWise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09834" y="214660"/>
            <a:ext cx="1976765" cy="525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3250" spc="-180" dirty="0">
                <a:uFill>
                  <a:solidFill>
                    <a:srgbClr val="000000"/>
                  </a:solidFill>
                </a:uFill>
                <a:latin typeface="Nirmala UI"/>
                <a:cs typeface="Nirmala UI"/>
              </a:rPr>
              <a:t>Qu-Mail</a:t>
            </a:r>
            <a:endParaRPr sz="3250" dirty="0">
              <a:latin typeface="Nirmala UI"/>
              <a:cs typeface="Nirmala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3910" y="0"/>
            <a:ext cx="2246575" cy="10488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1801" y="1025507"/>
            <a:ext cx="4037965" cy="4301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Proposed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Solution</a:t>
            </a:r>
            <a:r>
              <a:rPr sz="1400" spc="-10" dirty="0">
                <a:latin typeface="Times New Roman"/>
                <a:cs typeface="Times New Roman"/>
              </a:rPr>
              <a:t>:</a:t>
            </a:r>
            <a:endParaRPr sz="1400" dirty="0">
              <a:latin typeface="Times New Roman"/>
              <a:cs typeface="Times New Roman"/>
            </a:endParaRPr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457200" algn="l"/>
              </a:tabLst>
            </a:pPr>
            <a:r>
              <a:rPr lang="en-IN" sz="1000" dirty="0"/>
              <a:t>Develop </a:t>
            </a:r>
            <a:r>
              <a:rPr lang="en-IN" sz="1000" b="1" dirty="0"/>
              <a:t>Qu-Mail</a:t>
            </a:r>
            <a:r>
              <a:rPr lang="en-IN" sz="1000" dirty="0"/>
              <a:t>, a post-quantum secure email client that integrates </a:t>
            </a:r>
            <a:r>
              <a:rPr lang="en-IN" sz="1000" b="1" dirty="0"/>
              <a:t>Quantum Key Distribution (QKD)</a:t>
            </a:r>
            <a:r>
              <a:rPr lang="en-IN" sz="1000" dirty="0"/>
              <a:t> with existing email protocols as well as </a:t>
            </a:r>
            <a:r>
              <a:rPr lang="en-US" sz="1000" dirty="0"/>
              <a:t>compatible with Gmail, Yahoo, and other email services.</a:t>
            </a:r>
            <a:endParaRPr lang="en-IN" sz="1000" dirty="0"/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457200" algn="l"/>
              </a:tabLst>
            </a:pPr>
            <a:r>
              <a:rPr lang="en-US" sz="1000" dirty="0"/>
              <a:t>The client provides a familiar GUI experience for users without exposing them to the complexity of quantum encryption.</a:t>
            </a:r>
            <a:endParaRPr lang="en-US" sz="1000" dirty="0">
              <a:latin typeface="Times New Roman"/>
              <a:cs typeface="Times New Roman"/>
            </a:endParaRPr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FontTx/>
              <a:buChar char="•"/>
              <a:tabLst>
                <a:tab pos="457200" algn="l"/>
              </a:tabLst>
            </a:pPr>
            <a:r>
              <a:rPr lang="en-US" sz="1000" dirty="0">
                <a:latin typeface="Times New Roman"/>
                <a:cs typeface="Times New Roman"/>
              </a:rPr>
              <a:t>In our solution,</a:t>
            </a:r>
            <a:r>
              <a:rPr lang="en-US" sz="1000" dirty="0"/>
              <a:t> Implement </a:t>
            </a:r>
            <a:r>
              <a:rPr lang="en-US" sz="1000" b="1" dirty="0"/>
              <a:t>multi-level encryption modes</a:t>
            </a:r>
            <a:r>
              <a:rPr lang="en-US" sz="1000" dirty="0"/>
              <a:t> (One-Time Pad, QKD-aided AES, PQC, etc.) to balance performance, scalability, and security needs.</a:t>
            </a:r>
            <a:endParaRPr lang="en-IN" sz="1000" dirty="0"/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FontTx/>
              <a:buChar char="•"/>
              <a:tabLst>
                <a:tab pos="457200" algn="l"/>
              </a:tabLst>
            </a:pPr>
            <a:endParaRPr lang="en-US"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45"/>
              </a:spcBef>
              <a:tabLst>
                <a:tab pos="130175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Data</a:t>
            </a:r>
            <a:r>
              <a:rPr sz="1100" b="1" spc="-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Analytics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&amp;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Resource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Management: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</a:pPr>
            <a:endParaRPr sz="1100" dirty="0">
              <a:latin typeface="Times New Roman"/>
              <a:cs typeface="Times New Roman"/>
            </a:endParaRPr>
          </a:p>
          <a:p>
            <a:pPr marL="457200" marR="106680" lvl="1" indent="-317500">
              <a:lnSpc>
                <a:spcPct val="107100"/>
              </a:lnSpc>
              <a:buFontTx/>
              <a:buChar char="•"/>
              <a:tabLst>
                <a:tab pos="457200" algn="l"/>
              </a:tabLst>
            </a:pPr>
            <a:r>
              <a:rPr sz="1000" b="1" spc="-10" dirty="0">
                <a:latin typeface="Times New Roman"/>
                <a:cs typeface="Times New Roman"/>
              </a:rPr>
              <a:t>Performance</a:t>
            </a:r>
            <a:r>
              <a:rPr sz="1000" b="1" spc="-8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Analytics</a:t>
            </a:r>
            <a:r>
              <a:rPr lang="en-US" sz="1000" b="1" dirty="0">
                <a:latin typeface="Times New Roman"/>
                <a:cs typeface="Times New Roman"/>
              </a:rPr>
              <a:t> :</a:t>
            </a:r>
            <a:r>
              <a:rPr lang="en-US" sz="1000" dirty="0"/>
              <a:t>Continuously monitor encryption latency, email delivery times, and quantum key usage from local Key Managers (KMs) as per </a:t>
            </a:r>
            <a:r>
              <a:rPr lang="en-US" sz="1000" b="1" dirty="0"/>
              <a:t>ETSI GS QKD 014</a:t>
            </a:r>
            <a:r>
              <a:rPr lang="en-US" sz="1000" dirty="0"/>
              <a:t> standards.</a:t>
            </a:r>
          </a:p>
          <a:p>
            <a:pPr marL="457200" marR="106680" lvl="1" indent="-317500">
              <a:lnSpc>
                <a:spcPct val="107100"/>
              </a:lnSpc>
              <a:buFontTx/>
              <a:buChar char="•"/>
              <a:tabLst>
                <a:tab pos="457200" algn="l"/>
              </a:tabLst>
            </a:pPr>
            <a:endParaRPr lang="en-US" sz="1000" dirty="0">
              <a:latin typeface="Times New Roman"/>
              <a:cs typeface="Times New Roman"/>
            </a:endParaRPr>
          </a:p>
          <a:p>
            <a:pPr marL="457200" marR="106680" lvl="1" indent="-317500">
              <a:lnSpc>
                <a:spcPct val="107100"/>
              </a:lnSpc>
              <a:buChar char="•"/>
              <a:tabLst>
                <a:tab pos="457200" algn="l"/>
              </a:tabLst>
            </a:pPr>
            <a:r>
              <a:rPr sz="1000" b="1" spc="-10" dirty="0">
                <a:latin typeface="Times New Roman"/>
                <a:cs typeface="Times New Roman"/>
              </a:rPr>
              <a:t>Infrastructure</a:t>
            </a:r>
            <a:r>
              <a:rPr sz="1000" b="1" dirty="0">
                <a:latin typeface="Times New Roman"/>
                <a:cs typeface="Times New Roman"/>
              </a:rPr>
              <a:t> </a:t>
            </a:r>
            <a:r>
              <a:rPr sz="1000" b="1" dirty="0" err="1">
                <a:latin typeface="Times New Roman"/>
                <a:cs typeface="Times New Roman"/>
              </a:rPr>
              <a:t>Optimisation</a:t>
            </a:r>
            <a:r>
              <a:rPr lang="en-US" sz="1000" b="1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lang="en-US" sz="1000" dirty="0">
                <a:latin typeface="Times New Roman"/>
                <a:cs typeface="Times New Roman"/>
              </a:rPr>
              <a:t> </a:t>
            </a:r>
            <a:r>
              <a:rPr lang="en-US" sz="1000" dirty="0"/>
              <a:t>Efficient use of local Key Managers (KMs) and REST-based APIs to minimize extra load while scaling to multiple users and servers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03102" y="1064331"/>
            <a:ext cx="23475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How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it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Addresses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Problem</a:t>
            </a:r>
            <a:r>
              <a:rPr sz="1400" spc="-10" dirty="0">
                <a:latin typeface="Times New Roman"/>
                <a:cs typeface="Times New Roman"/>
              </a:rPr>
              <a:t>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95800" y="1398954"/>
            <a:ext cx="7487121" cy="16719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24257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317500" algn="l"/>
              </a:tabLst>
            </a:pPr>
            <a:r>
              <a:rPr lang="en-US" sz="1050" b="1" dirty="0"/>
              <a:t>For Users</a:t>
            </a:r>
            <a:r>
              <a:rPr lang="en-US" sz="1050" dirty="0"/>
              <a:t>: It includes 2 perspectives:</a:t>
            </a:r>
          </a:p>
          <a:p>
            <a:pPr marR="242570">
              <a:lnSpc>
                <a:spcPct val="107100"/>
              </a:lnSpc>
              <a:spcBef>
                <a:spcPts val="1200"/>
              </a:spcBef>
              <a:tabLst>
                <a:tab pos="317500" algn="l"/>
              </a:tabLst>
            </a:pPr>
            <a:r>
              <a:rPr lang="en-US" sz="1050" b="1" dirty="0"/>
              <a:t>                 Sender’s Perspective:</a:t>
            </a:r>
            <a:r>
              <a:rPr lang="en-US" sz="1050" dirty="0"/>
              <a:t> Compose and send emails just like in </a:t>
            </a:r>
            <a:r>
              <a:rPr lang="en-US" sz="1050" b="1" dirty="0"/>
              <a:t>Outlook</a:t>
            </a:r>
            <a:r>
              <a:rPr lang="en-US" sz="1050" dirty="0"/>
              <a:t>, while encryption happens            automatically using quantum keys to ensure post-quantum security.</a:t>
            </a:r>
            <a:r>
              <a:rPr lang="en-US" sz="1050" b="1" dirty="0"/>
              <a:t> </a:t>
            </a:r>
          </a:p>
          <a:p>
            <a:pPr marR="242570">
              <a:lnSpc>
                <a:spcPct val="107100"/>
              </a:lnSpc>
              <a:spcBef>
                <a:spcPts val="1200"/>
              </a:spcBef>
              <a:tabLst>
                <a:tab pos="317500" algn="l"/>
              </a:tabLst>
            </a:pPr>
            <a:r>
              <a:rPr lang="en-US" sz="1050" b="1" dirty="0"/>
              <a:t>                 Receiver’s Perspective:</a:t>
            </a:r>
            <a:r>
              <a:rPr lang="en-US" sz="1050" dirty="0"/>
              <a:t> Receive and read emails without any extra steps, with guaranteed confidentiality and integrity, even over untrusted networks.</a:t>
            </a:r>
            <a:endParaRPr lang="en-US" sz="1050" dirty="0">
              <a:latin typeface="Times New Roman"/>
              <a:cs typeface="Times New Roman"/>
            </a:endParaRPr>
          </a:p>
          <a:p>
            <a:pPr marL="317500" marR="24257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317500" algn="l"/>
              </a:tabLst>
            </a:pPr>
            <a:r>
              <a:rPr lang="en-US" sz="1050" b="1" dirty="0"/>
              <a:t>Organization’s Perspective:</a:t>
            </a:r>
            <a:r>
              <a:rPr lang="en-US" sz="1050" dirty="0"/>
              <a:t> Maintain secure internal and external communication, protect sensitive data, and comply with </a:t>
            </a:r>
            <a:r>
              <a:rPr lang="en-US" sz="1050" b="1" dirty="0"/>
              <a:t>post-quantum security standards </a:t>
            </a:r>
            <a:r>
              <a:rPr lang="en-US" sz="1050" dirty="0"/>
              <a:t>without disrupting workflow.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332711" y="3150221"/>
            <a:ext cx="7620000" cy="3063659"/>
          </a:xfrm>
          <a:prstGeom prst="rect">
            <a:avLst/>
          </a:prstGeom>
          <a:ln w="25400">
            <a:solidFill>
              <a:srgbClr val="4F81BD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730"/>
              </a:spcBef>
            </a:pPr>
            <a:r>
              <a:rPr sz="1400" b="1" dirty="0">
                <a:latin typeface="Times New Roman"/>
                <a:cs typeface="Times New Roman"/>
              </a:rPr>
              <a:t>Innovation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10" dirty="0">
                <a:latin typeface="Times New Roman"/>
                <a:cs typeface="Times New Roman"/>
              </a:rPr>
              <a:t> Uniqueness</a:t>
            </a:r>
            <a:r>
              <a:rPr sz="1400" spc="-10" dirty="0">
                <a:latin typeface="Times New Roman"/>
                <a:cs typeface="Times New Roman"/>
              </a:rPr>
              <a:t>:</a:t>
            </a:r>
            <a:endParaRPr sz="1400" dirty="0">
              <a:latin typeface="Times New Roman"/>
              <a:cs typeface="Times New Roman"/>
            </a:endParaRPr>
          </a:p>
          <a:p>
            <a:pPr marL="248285" indent="-140335">
              <a:lnSpc>
                <a:spcPct val="100000"/>
              </a:lnSpc>
              <a:spcBef>
                <a:spcPts val="1320"/>
              </a:spcBef>
              <a:buFont typeface="Times New Roman"/>
              <a:buChar char="•"/>
              <a:tabLst>
                <a:tab pos="248285" algn="l"/>
              </a:tabLst>
            </a:pPr>
            <a:r>
              <a:rPr lang="en-US" sz="1000" b="1" dirty="0"/>
              <a:t>Quantum-Secure Emails:</a:t>
            </a:r>
            <a:r>
              <a:rPr lang="en-US" sz="1000" dirty="0"/>
              <a:t> Protects emails from future quantum attacks by combining QKD with regular email systems—something no popular email client does today.</a:t>
            </a:r>
          </a:p>
          <a:p>
            <a:pPr marL="248285" indent="-140335">
              <a:lnSpc>
                <a:spcPct val="100000"/>
              </a:lnSpc>
              <a:spcBef>
                <a:spcPts val="1320"/>
              </a:spcBef>
              <a:buFont typeface="Times New Roman"/>
              <a:buChar char="•"/>
              <a:tabLst>
                <a:tab pos="248285" algn="l"/>
              </a:tabLst>
            </a:pPr>
            <a:r>
              <a:rPr lang="en-US" sz="1000" b="1" dirty="0"/>
              <a:t>Multi-Level Encryption:</a:t>
            </a:r>
            <a:r>
              <a:rPr lang="en-US" sz="1000" dirty="0"/>
              <a:t> Offers different security options (One-Time Pad, QKD-aided AES, PQC, or standard encryption) so users can choose based on sensitivity.</a:t>
            </a:r>
          </a:p>
          <a:p>
            <a:pPr marL="248285" indent="-140335">
              <a:lnSpc>
                <a:spcPct val="100000"/>
              </a:lnSpc>
              <a:spcBef>
                <a:spcPts val="1320"/>
              </a:spcBef>
              <a:buChar char="•"/>
              <a:tabLst>
                <a:tab pos="248285" algn="l"/>
              </a:tabLst>
            </a:pPr>
            <a:r>
              <a:rPr lang="en-US" sz="1000" b="1" dirty="0"/>
              <a:t>Seamless User Experience:</a:t>
            </a:r>
            <a:r>
              <a:rPr lang="en-US" sz="1000" dirty="0"/>
              <a:t> Works like familiar email apps (Outlook/Gmail) without requiring users to handle complex quantum keys manually</a:t>
            </a:r>
            <a:r>
              <a:rPr lang="en-US" sz="1400" dirty="0"/>
              <a:t>.</a:t>
            </a:r>
            <a:endParaRPr lang="en-US" sz="1400" dirty="0">
              <a:latin typeface="Times New Roman"/>
              <a:cs typeface="Times New Roman"/>
            </a:endParaRPr>
          </a:p>
          <a:p>
            <a:pPr marL="227965" indent="-120014">
              <a:lnSpc>
                <a:spcPct val="100000"/>
              </a:lnSpc>
              <a:spcBef>
                <a:spcPts val="1320"/>
              </a:spcBef>
              <a:buChar char="•"/>
              <a:tabLst>
                <a:tab pos="227965" algn="l"/>
              </a:tabLst>
            </a:pPr>
            <a:r>
              <a:rPr lang="en-US" sz="1000" b="1" dirty="0"/>
              <a:t>Scalable Architecture:</a:t>
            </a:r>
            <a:r>
              <a:rPr lang="en-US" sz="1000" dirty="0"/>
              <a:t> Can be expanded to include secure chat, file sharing, and video/audio calls, </a:t>
            </a:r>
            <a:r>
              <a:rPr lang="en-IN" sz="1000" dirty="0"/>
              <a:t>forming a complete quantum-secure messaging system.</a:t>
            </a:r>
            <a:endParaRPr lang="en-US" sz="1000" spc="-10" dirty="0">
              <a:latin typeface="Times New Roman"/>
              <a:cs typeface="Times New Roman"/>
            </a:endParaRPr>
          </a:p>
          <a:p>
            <a:pPr marL="227965" indent="-120014">
              <a:lnSpc>
                <a:spcPct val="100000"/>
              </a:lnSpc>
              <a:spcBef>
                <a:spcPts val="1320"/>
              </a:spcBef>
              <a:buChar char="•"/>
              <a:tabLst>
                <a:tab pos="227965" algn="l"/>
              </a:tabLst>
            </a:pPr>
            <a:r>
              <a:rPr lang="en-US" sz="1000" b="1" dirty="0">
                <a:latin typeface="Times New Roman"/>
                <a:cs typeface="Times New Roman"/>
              </a:rPr>
              <a:t>Key Expiry</a:t>
            </a:r>
            <a:r>
              <a:rPr lang="en-US" sz="1000" dirty="0">
                <a:latin typeface="Times New Roman"/>
                <a:cs typeface="Times New Roman"/>
              </a:rPr>
              <a:t>: KM ensures each key expires after defined use/time.</a:t>
            </a:r>
          </a:p>
          <a:p>
            <a:pPr marL="227965" indent="-120014">
              <a:lnSpc>
                <a:spcPct val="100000"/>
              </a:lnSpc>
              <a:spcBef>
                <a:spcPts val="1320"/>
              </a:spcBef>
              <a:buChar char="•"/>
              <a:tabLst>
                <a:tab pos="227965" algn="l"/>
              </a:tabLst>
            </a:pPr>
            <a:r>
              <a:rPr lang="en-US" sz="1000" b="1" dirty="0"/>
              <a:t>Wide Impact:</a:t>
            </a:r>
            <a:r>
              <a:rPr lang="en-US" sz="1000" dirty="0"/>
              <a:t> Protects sensitive communications for governments, defense, enterprises, and personal users, making it future-proof against cyber threats.</a:t>
            </a:r>
            <a:endParaRPr sz="1000" dirty="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849011"/>
            <a:ext cx="11952711" cy="5333365"/>
            <a:chOff x="37371" y="968644"/>
            <a:chExt cx="11952711" cy="5333365"/>
          </a:xfrm>
        </p:grpSpPr>
        <p:sp>
          <p:nvSpPr>
            <p:cNvPr id="12" name="object 12"/>
            <p:cNvSpPr/>
            <p:nvPr/>
          </p:nvSpPr>
          <p:spPr>
            <a:xfrm>
              <a:off x="37371" y="968644"/>
              <a:ext cx="4246245" cy="5333365"/>
            </a:xfrm>
            <a:custGeom>
              <a:avLst/>
              <a:gdLst/>
              <a:ahLst/>
              <a:cxnLst/>
              <a:rect l="l" t="t" r="r" b="b"/>
              <a:pathLst>
                <a:path w="4246245" h="5333365">
                  <a:moveTo>
                    <a:pt x="0" y="0"/>
                  </a:moveTo>
                  <a:lnTo>
                    <a:pt x="4246084" y="0"/>
                  </a:lnTo>
                  <a:lnTo>
                    <a:pt x="4246084" y="5332916"/>
                  </a:lnTo>
                  <a:lnTo>
                    <a:pt x="0" y="533291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70082" y="977150"/>
              <a:ext cx="7620000" cy="2244725"/>
            </a:xfrm>
            <a:custGeom>
              <a:avLst/>
              <a:gdLst/>
              <a:ahLst/>
              <a:cxnLst/>
              <a:rect l="l" t="t" r="r" b="b"/>
              <a:pathLst>
                <a:path w="7620000" h="2244725">
                  <a:moveTo>
                    <a:pt x="0" y="0"/>
                  </a:moveTo>
                  <a:lnTo>
                    <a:pt x="7619611" y="0"/>
                  </a:lnTo>
                  <a:lnTo>
                    <a:pt x="7619611" y="2244460"/>
                  </a:lnTo>
                  <a:lnTo>
                    <a:pt x="0" y="224446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6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17125-0A00-6F7F-525C-75CC891A0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82F65B-503B-76ED-F164-BB6AB2951B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214660"/>
            <a:ext cx="6324600" cy="51616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3250" dirty="0">
                <a:latin typeface="Nirmala UI"/>
                <a:cs typeface="Nirmala UI"/>
              </a:rPr>
              <a:t>IMPACTS AND BENEFITS</a:t>
            </a:r>
            <a:endParaRPr sz="3250" dirty="0">
              <a:latin typeface="Nirmala UI"/>
              <a:cs typeface="Nirmala UI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0E928AA-C1EF-6546-71D0-B7986824C1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3910" y="0"/>
            <a:ext cx="2246575" cy="1048849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EE9925D4-86FA-B243-792A-A31B997462E2}"/>
              </a:ext>
            </a:extLst>
          </p:cNvPr>
          <p:cNvSpPr txBox="1"/>
          <p:nvPr/>
        </p:nvSpPr>
        <p:spPr>
          <a:xfrm>
            <a:off x="141801" y="1025507"/>
            <a:ext cx="4037965" cy="4301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Proposed</a:t>
            </a:r>
            <a:r>
              <a:rPr sz="1400" b="1" spc="-7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Solution</a:t>
            </a:r>
            <a:r>
              <a:rPr sz="1400" spc="-10" dirty="0">
                <a:latin typeface="Times New Roman"/>
                <a:cs typeface="Times New Roman"/>
              </a:rPr>
              <a:t>:</a:t>
            </a:r>
            <a:endParaRPr sz="1400" dirty="0">
              <a:latin typeface="Times New Roman"/>
              <a:cs typeface="Times New Roman"/>
            </a:endParaRPr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457200" algn="l"/>
              </a:tabLst>
            </a:pPr>
            <a:r>
              <a:rPr lang="en-IN" sz="1000" dirty="0"/>
              <a:t>Develop </a:t>
            </a:r>
            <a:r>
              <a:rPr lang="en-IN" sz="1000" b="1" dirty="0"/>
              <a:t>Qu-Mail</a:t>
            </a:r>
            <a:r>
              <a:rPr lang="en-IN" sz="1000" dirty="0"/>
              <a:t>, a post-quantum secure email client that integrates </a:t>
            </a:r>
            <a:r>
              <a:rPr lang="en-IN" sz="1000" b="1" dirty="0"/>
              <a:t>Quantum Key Distribution (QKD)</a:t>
            </a:r>
            <a:r>
              <a:rPr lang="en-IN" sz="1000" dirty="0"/>
              <a:t> with existing email protocols as well as </a:t>
            </a:r>
            <a:r>
              <a:rPr lang="en-US" sz="1000" dirty="0"/>
              <a:t>compatible with Gmail, Yahoo, and other email services.</a:t>
            </a:r>
            <a:endParaRPr lang="en-IN" sz="1000" dirty="0"/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457200" algn="l"/>
              </a:tabLst>
            </a:pPr>
            <a:r>
              <a:rPr lang="en-US" sz="1000" dirty="0"/>
              <a:t>The client provides a familiar GUI experience for users without exposing them to the complexity of quantum encryption.</a:t>
            </a:r>
            <a:endParaRPr lang="en-US" sz="1000" dirty="0">
              <a:latin typeface="Times New Roman"/>
              <a:cs typeface="Times New Roman"/>
            </a:endParaRPr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FontTx/>
              <a:buChar char="•"/>
              <a:tabLst>
                <a:tab pos="457200" algn="l"/>
              </a:tabLst>
            </a:pPr>
            <a:r>
              <a:rPr lang="en-US" sz="1000" dirty="0">
                <a:latin typeface="Times New Roman"/>
                <a:cs typeface="Times New Roman"/>
              </a:rPr>
              <a:t>In our solution,</a:t>
            </a:r>
            <a:r>
              <a:rPr lang="en-US" sz="1000" dirty="0"/>
              <a:t> Implement </a:t>
            </a:r>
            <a:r>
              <a:rPr lang="en-US" sz="1000" b="1" dirty="0"/>
              <a:t>multi-level encryption modes</a:t>
            </a:r>
            <a:r>
              <a:rPr lang="en-US" sz="1000" dirty="0"/>
              <a:t> (One-Time Pad, QKD-aided AES, PQC, etc.) to balance performance, scalability, and security needs.</a:t>
            </a:r>
            <a:endParaRPr lang="en-IN" sz="1000" dirty="0"/>
          </a:p>
          <a:p>
            <a:pPr marL="457200" marR="5080" indent="-317500">
              <a:lnSpc>
                <a:spcPct val="107100"/>
              </a:lnSpc>
              <a:spcBef>
                <a:spcPts val="1200"/>
              </a:spcBef>
              <a:buFontTx/>
              <a:buChar char="•"/>
              <a:tabLst>
                <a:tab pos="457200" algn="l"/>
              </a:tabLst>
            </a:pPr>
            <a:endParaRPr lang="en-US"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45"/>
              </a:spcBef>
              <a:tabLst>
                <a:tab pos="130175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Data</a:t>
            </a:r>
            <a:r>
              <a:rPr sz="1100" b="1" spc="-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Analytics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&amp;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Resource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Management: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</a:pPr>
            <a:endParaRPr sz="1100" dirty="0">
              <a:latin typeface="Times New Roman"/>
              <a:cs typeface="Times New Roman"/>
            </a:endParaRPr>
          </a:p>
          <a:p>
            <a:pPr marL="457200" marR="106680" lvl="1" indent="-317500">
              <a:lnSpc>
                <a:spcPct val="107100"/>
              </a:lnSpc>
              <a:buFontTx/>
              <a:buChar char="•"/>
              <a:tabLst>
                <a:tab pos="457200" algn="l"/>
              </a:tabLst>
            </a:pPr>
            <a:r>
              <a:rPr sz="1000" b="1" spc="-10" dirty="0">
                <a:latin typeface="Times New Roman"/>
                <a:cs typeface="Times New Roman"/>
              </a:rPr>
              <a:t>Performance</a:t>
            </a:r>
            <a:r>
              <a:rPr sz="1000" b="1" spc="-8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Analytics</a:t>
            </a:r>
            <a:r>
              <a:rPr lang="en-US" sz="1000" b="1" dirty="0">
                <a:latin typeface="Times New Roman"/>
                <a:cs typeface="Times New Roman"/>
              </a:rPr>
              <a:t> :</a:t>
            </a:r>
            <a:r>
              <a:rPr lang="en-US" sz="1000" dirty="0"/>
              <a:t>Continuously monitor encryption latency, email delivery times, and quantum key usage from local Key Managers (KMs) as per </a:t>
            </a:r>
            <a:r>
              <a:rPr lang="en-US" sz="1000" b="1" dirty="0"/>
              <a:t>ETSI GS QKD 014</a:t>
            </a:r>
            <a:r>
              <a:rPr lang="en-US" sz="1000" dirty="0"/>
              <a:t> standards.</a:t>
            </a:r>
          </a:p>
          <a:p>
            <a:pPr marL="457200" marR="106680" lvl="1" indent="-317500">
              <a:lnSpc>
                <a:spcPct val="107100"/>
              </a:lnSpc>
              <a:buFontTx/>
              <a:buChar char="•"/>
              <a:tabLst>
                <a:tab pos="457200" algn="l"/>
              </a:tabLst>
            </a:pPr>
            <a:endParaRPr lang="en-US" sz="1000" dirty="0">
              <a:latin typeface="Times New Roman"/>
              <a:cs typeface="Times New Roman"/>
            </a:endParaRPr>
          </a:p>
          <a:p>
            <a:pPr marL="457200" marR="106680" lvl="1" indent="-317500">
              <a:lnSpc>
                <a:spcPct val="107100"/>
              </a:lnSpc>
              <a:buChar char="•"/>
              <a:tabLst>
                <a:tab pos="457200" algn="l"/>
              </a:tabLst>
            </a:pPr>
            <a:r>
              <a:rPr sz="1000" b="1" spc="-10" dirty="0">
                <a:latin typeface="Times New Roman"/>
                <a:cs typeface="Times New Roman"/>
              </a:rPr>
              <a:t>Infrastructure</a:t>
            </a:r>
            <a:r>
              <a:rPr sz="1000" b="1" dirty="0">
                <a:latin typeface="Times New Roman"/>
                <a:cs typeface="Times New Roman"/>
              </a:rPr>
              <a:t> </a:t>
            </a:r>
            <a:r>
              <a:rPr sz="1000" b="1" dirty="0" err="1">
                <a:latin typeface="Times New Roman"/>
                <a:cs typeface="Times New Roman"/>
              </a:rPr>
              <a:t>Optimisation</a:t>
            </a:r>
            <a:r>
              <a:rPr lang="en-US" sz="1000" b="1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:</a:t>
            </a:r>
            <a:r>
              <a:rPr lang="en-US" sz="1000" dirty="0">
                <a:latin typeface="Times New Roman"/>
                <a:cs typeface="Times New Roman"/>
              </a:rPr>
              <a:t> </a:t>
            </a:r>
            <a:r>
              <a:rPr lang="en-US" sz="1000" dirty="0"/>
              <a:t>Efficient use of local Key Managers (KMs) and REST-based APIs to minimize extra load while scaling to multiple users and servers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0C58EA5-2DC5-15CB-A83C-5BC46C1F4854}"/>
              </a:ext>
            </a:extLst>
          </p:cNvPr>
          <p:cNvSpPr txBox="1"/>
          <p:nvPr/>
        </p:nvSpPr>
        <p:spPr>
          <a:xfrm>
            <a:off x="4403102" y="1064331"/>
            <a:ext cx="23475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How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it</a:t>
            </a:r>
            <a:r>
              <a:rPr sz="1400" b="1" spc="-8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Addresses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Problem</a:t>
            </a:r>
            <a:r>
              <a:rPr sz="1400" spc="-10" dirty="0">
                <a:latin typeface="Times New Roman"/>
                <a:cs typeface="Times New Roman"/>
              </a:rPr>
              <a:t>: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BB0AC67-7A9C-117F-1FB3-487DCF59800B}"/>
              </a:ext>
            </a:extLst>
          </p:cNvPr>
          <p:cNvSpPr txBox="1"/>
          <p:nvPr/>
        </p:nvSpPr>
        <p:spPr>
          <a:xfrm>
            <a:off x="4495800" y="1398954"/>
            <a:ext cx="7487121" cy="16719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24257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317500" algn="l"/>
              </a:tabLst>
            </a:pPr>
            <a:r>
              <a:rPr lang="en-US" sz="1050" b="1" dirty="0"/>
              <a:t>For Users</a:t>
            </a:r>
            <a:r>
              <a:rPr lang="en-US" sz="1050" dirty="0"/>
              <a:t>: It includes 2 perspectives:</a:t>
            </a:r>
          </a:p>
          <a:p>
            <a:pPr marR="242570">
              <a:lnSpc>
                <a:spcPct val="107100"/>
              </a:lnSpc>
              <a:spcBef>
                <a:spcPts val="1200"/>
              </a:spcBef>
              <a:tabLst>
                <a:tab pos="317500" algn="l"/>
              </a:tabLst>
            </a:pPr>
            <a:r>
              <a:rPr lang="en-US" sz="1050" b="1" dirty="0"/>
              <a:t>                 Sender’s Perspective:</a:t>
            </a:r>
            <a:r>
              <a:rPr lang="en-US" sz="1050" dirty="0"/>
              <a:t> Compose and send emails just like in </a:t>
            </a:r>
            <a:r>
              <a:rPr lang="en-US" sz="1050" b="1" dirty="0"/>
              <a:t>Outlook</a:t>
            </a:r>
            <a:r>
              <a:rPr lang="en-US" sz="1050" dirty="0"/>
              <a:t>, while encryption happens            automatically using quantum keys to ensure post-quantum security.</a:t>
            </a:r>
            <a:r>
              <a:rPr lang="en-US" sz="1050" b="1" dirty="0"/>
              <a:t> </a:t>
            </a:r>
          </a:p>
          <a:p>
            <a:pPr marR="242570">
              <a:lnSpc>
                <a:spcPct val="107100"/>
              </a:lnSpc>
              <a:spcBef>
                <a:spcPts val="1200"/>
              </a:spcBef>
              <a:tabLst>
                <a:tab pos="317500" algn="l"/>
              </a:tabLst>
            </a:pPr>
            <a:r>
              <a:rPr lang="en-US" sz="1050" b="1" dirty="0"/>
              <a:t>                 Receiver’s Perspective:</a:t>
            </a:r>
            <a:r>
              <a:rPr lang="en-US" sz="1050" dirty="0"/>
              <a:t> Receive and read emails without any extra steps, with guaranteed confidentiality and integrity, even over untrusted networks.</a:t>
            </a:r>
            <a:endParaRPr lang="en-US" sz="1050" dirty="0">
              <a:latin typeface="Times New Roman"/>
              <a:cs typeface="Times New Roman"/>
            </a:endParaRPr>
          </a:p>
          <a:p>
            <a:pPr marL="317500" marR="242570" indent="-317500">
              <a:lnSpc>
                <a:spcPct val="107100"/>
              </a:lnSpc>
              <a:spcBef>
                <a:spcPts val="1200"/>
              </a:spcBef>
              <a:buChar char="•"/>
              <a:tabLst>
                <a:tab pos="317500" algn="l"/>
              </a:tabLst>
            </a:pPr>
            <a:r>
              <a:rPr lang="en-US" sz="1050" b="1" dirty="0"/>
              <a:t>Organization’s Perspective:</a:t>
            </a:r>
            <a:r>
              <a:rPr lang="en-US" sz="1050" dirty="0"/>
              <a:t> Maintain secure internal and external communication, protect sensitive data, and comply with </a:t>
            </a:r>
            <a:r>
              <a:rPr lang="en-US" sz="1050" b="1" dirty="0"/>
              <a:t>post-quantum security standards </a:t>
            </a:r>
            <a:r>
              <a:rPr lang="en-US" sz="1050" dirty="0"/>
              <a:t>without disrupting workflow.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1F140CC-8119-9BA2-4D45-1EA3B8FEBD62}"/>
              </a:ext>
            </a:extLst>
          </p:cNvPr>
          <p:cNvSpPr txBox="1"/>
          <p:nvPr/>
        </p:nvSpPr>
        <p:spPr>
          <a:xfrm>
            <a:off x="4332711" y="3150221"/>
            <a:ext cx="7620000" cy="3063659"/>
          </a:xfrm>
          <a:prstGeom prst="rect">
            <a:avLst/>
          </a:prstGeom>
          <a:ln w="25400">
            <a:solidFill>
              <a:srgbClr val="4F81BD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730"/>
              </a:spcBef>
            </a:pPr>
            <a:r>
              <a:rPr sz="1400" b="1" dirty="0">
                <a:latin typeface="Times New Roman"/>
                <a:cs typeface="Times New Roman"/>
              </a:rPr>
              <a:t>Innovation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and</a:t>
            </a:r>
            <a:r>
              <a:rPr sz="1400" b="1" spc="-10" dirty="0">
                <a:latin typeface="Times New Roman"/>
                <a:cs typeface="Times New Roman"/>
              </a:rPr>
              <a:t> Uniqueness</a:t>
            </a:r>
            <a:r>
              <a:rPr sz="1400" spc="-10" dirty="0">
                <a:latin typeface="Times New Roman"/>
                <a:cs typeface="Times New Roman"/>
              </a:rPr>
              <a:t>:</a:t>
            </a:r>
            <a:endParaRPr sz="1400" dirty="0">
              <a:latin typeface="Times New Roman"/>
              <a:cs typeface="Times New Roman"/>
            </a:endParaRPr>
          </a:p>
          <a:p>
            <a:pPr marL="248285" indent="-140335">
              <a:lnSpc>
                <a:spcPct val="100000"/>
              </a:lnSpc>
              <a:spcBef>
                <a:spcPts val="1320"/>
              </a:spcBef>
              <a:buFont typeface="Times New Roman"/>
              <a:buChar char="•"/>
              <a:tabLst>
                <a:tab pos="248285" algn="l"/>
              </a:tabLst>
            </a:pPr>
            <a:r>
              <a:rPr lang="en-US" sz="1000" b="1" dirty="0"/>
              <a:t>Quantum-Secure Emails:</a:t>
            </a:r>
            <a:r>
              <a:rPr lang="en-US" sz="1000" dirty="0"/>
              <a:t> Protects emails from future quantum attacks by combining QKD with regular email systems—something no popular email client does today.</a:t>
            </a:r>
          </a:p>
          <a:p>
            <a:pPr marL="248285" indent="-140335">
              <a:lnSpc>
                <a:spcPct val="100000"/>
              </a:lnSpc>
              <a:spcBef>
                <a:spcPts val="1320"/>
              </a:spcBef>
              <a:buFont typeface="Times New Roman"/>
              <a:buChar char="•"/>
              <a:tabLst>
                <a:tab pos="248285" algn="l"/>
              </a:tabLst>
            </a:pPr>
            <a:r>
              <a:rPr lang="en-US" sz="1000" b="1" dirty="0"/>
              <a:t>Multi-Level Encryption:</a:t>
            </a:r>
            <a:r>
              <a:rPr lang="en-US" sz="1000" dirty="0"/>
              <a:t> Offers different security options (One-Time Pad, QKD-aided AES, PQC, or standard encryption) so users can choose based on sensitivity.</a:t>
            </a:r>
          </a:p>
          <a:p>
            <a:pPr marL="248285" indent="-140335">
              <a:lnSpc>
                <a:spcPct val="100000"/>
              </a:lnSpc>
              <a:spcBef>
                <a:spcPts val="1320"/>
              </a:spcBef>
              <a:buChar char="•"/>
              <a:tabLst>
                <a:tab pos="248285" algn="l"/>
              </a:tabLst>
            </a:pPr>
            <a:r>
              <a:rPr lang="en-US" sz="1000" b="1" dirty="0"/>
              <a:t>Seamless User Experience:</a:t>
            </a:r>
            <a:r>
              <a:rPr lang="en-US" sz="1000" dirty="0"/>
              <a:t> Works like familiar email apps (Outlook/Gmail) without requiring users to handle complex quantum keys manually</a:t>
            </a:r>
            <a:r>
              <a:rPr lang="en-US" sz="1400" dirty="0"/>
              <a:t>.</a:t>
            </a:r>
            <a:endParaRPr lang="en-US" sz="1400" dirty="0">
              <a:latin typeface="Times New Roman"/>
              <a:cs typeface="Times New Roman"/>
            </a:endParaRPr>
          </a:p>
          <a:p>
            <a:pPr marL="227965" indent="-120014">
              <a:lnSpc>
                <a:spcPct val="100000"/>
              </a:lnSpc>
              <a:spcBef>
                <a:spcPts val="1320"/>
              </a:spcBef>
              <a:buChar char="•"/>
              <a:tabLst>
                <a:tab pos="227965" algn="l"/>
              </a:tabLst>
            </a:pPr>
            <a:r>
              <a:rPr lang="en-US" sz="1000" b="1" dirty="0"/>
              <a:t>Scalable Architecture:</a:t>
            </a:r>
            <a:r>
              <a:rPr lang="en-US" sz="1000" dirty="0"/>
              <a:t> Can be expanded to include secure chat, file sharing, and video/audio calls, </a:t>
            </a:r>
            <a:r>
              <a:rPr lang="en-IN" sz="1000" dirty="0"/>
              <a:t>forming a complete quantum-secure messaging system.</a:t>
            </a:r>
            <a:endParaRPr lang="en-US" sz="1000" spc="-10" dirty="0">
              <a:latin typeface="Times New Roman"/>
              <a:cs typeface="Times New Roman"/>
            </a:endParaRPr>
          </a:p>
          <a:p>
            <a:pPr marL="227965" indent="-120014">
              <a:lnSpc>
                <a:spcPct val="100000"/>
              </a:lnSpc>
              <a:spcBef>
                <a:spcPts val="1320"/>
              </a:spcBef>
              <a:buChar char="•"/>
              <a:tabLst>
                <a:tab pos="227965" algn="l"/>
              </a:tabLst>
            </a:pPr>
            <a:r>
              <a:rPr lang="en-US" sz="1000" b="1" dirty="0">
                <a:latin typeface="Times New Roman"/>
                <a:cs typeface="Times New Roman"/>
              </a:rPr>
              <a:t>Key Expiry</a:t>
            </a:r>
            <a:r>
              <a:rPr lang="en-US" sz="1000" dirty="0">
                <a:latin typeface="Times New Roman"/>
                <a:cs typeface="Times New Roman"/>
              </a:rPr>
              <a:t>: KM ensures each key expires after defined use/time.</a:t>
            </a:r>
          </a:p>
          <a:p>
            <a:pPr marL="227965" indent="-120014">
              <a:lnSpc>
                <a:spcPct val="100000"/>
              </a:lnSpc>
              <a:spcBef>
                <a:spcPts val="1320"/>
              </a:spcBef>
              <a:buChar char="•"/>
              <a:tabLst>
                <a:tab pos="227965" algn="l"/>
              </a:tabLst>
            </a:pPr>
            <a:r>
              <a:rPr lang="en-US" sz="1000" b="1" dirty="0"/>
              <a:t>Wide Impact:</a:t>
            </a:r>
            <a:r>
              <a:rPr lang="en-US" sz="1000" dirty="0"/>
              <a:t> Protects sensitive communications for governments, defense, enterprises, and personal users, making it future-proof against cyber threats.</a:t>
            </a:r>
            <a:endParaRPr sz="1000" dirty="0">
              <a:latin typeface="Times New Roman"/>
              <a:cs typeface="Times New Roman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7E6AB4D4-D8A0-13B2-A565-04CDA3F46981}"/>
              </a:ext>
            </a:extLst>
          </p:cNvPr>
          <p:cNvGrpSpPr/>
          <p:nvPr/>
        </p:nvGrpSpPr>
        <p:grpSpPr>
          <a:xfrm>
            <a:off x="0" y="849011"/>
            <a:ext cx="11952711" cy="5333365"/>
            <a:chOff x="37371" y="968644"/>
            <a:chExt cx="11952711" cy="5333365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62351E6E-BD05-6336-56F2-254F02977F4F}"/>
                </a:ext>
              </a:extLst>
            </p:cNvPr>
            <p:cNvSpPr/>
            <p:nvPr/>
          </p:nvSpPr>
          <p:spPr>
            <a:xfrm>
              <a:off x="37371" y="968644"/>
              <a:ext cx="4246245" cy="5333365"/>
            </a:xfrm>
            <a:custGeom>
              <a:avLst/>
              <a:gdLst/>
              <a:ahLst/>
              <a:cxnLst/>
              <a:rect l="l" t="t" r="r" b="b"/>
              <a:pathLst>
                <a:path w="4246245" h="5333365">
                  <a:moveTo>
                    <a:pt x="0" y="0"/>
                  </a:moveTo>
                  <a:lnTo>
                    <a:pt x="4246084" y="0"/>
                  </a:lnTo>
                  <a:lnTo>
                    <a:pt x="4246084" y="5332916"/>
                  </a:lnTo>
                  <a:lnTo>
                    <a:pt x="0" y="533291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475F7C8-3659-EE2D-4CD1-E376A2AF3DB6}"/>
                </a:ext>
              </a:extLst>
            </p:cNvPr>
            <p:cNvSpPr/>
            <p:nvPr/>
          </p:nvSpPr>
          <p:spPr>
            <a:xfrm>
              <a:off x="4370082" y="977150"/>
              <a:ext cx="7620000" cy="2244725"/>
            </a:xfrm>
            <a:custGeom>
              <a:avLst/>
              <a:gdLst/>
              <a:ahLst/>
              <a:cxnLst/>
              <a:rect l="l" t="t" r="r" b="b"/>
              <a:pathLst>
                <a:path w="7620000" h="2244725">
                  <a:moveTo>
                    <a:pt x="0" y="0"/>
                  </a:moveTo>
                  <a:lnTo>
                    <a:pt x="7619611" y="0"/>
                  </a:lnTo>
                  <a:lnTo>
                    <a:pt x="7619611" y="2244460"/>
                  </a:lnTo>
                  <a:lnTo>
                    <a:pt x="0" y="224446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014C4273-140B-DDAD-9239-E188AC9BE63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6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90067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809</Words>
  <Application>Microsoft Office PowerPoint</Application>
  <PresentationFormat>Widescreen</PresentationFormat>
  <Paragraphs>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MT</vt:lpstr>
      <vt:lpstr>Calibri</vt:lpstr>
      <vt:lpstr>Nirmala UI</vt:lpstr>
      <vt:lpstr>Times New Roman</vt:lpstr>
      <vt:lpstr>Office Theme</vt:lpstr>
      <vt:lpstr>SMART INDIA HACKATHON 2024</vt:lpstr>
      <vt:lpstr>Qu-Mail</vt:lpstr>
      <vt:lpstr>IMPACTS AND BENEFITS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DevWise PPT_SIH</dc:title>
  <cp:lastModifiedBy>harshit mishra</cp:lastModifiedBy>
  <cp:revision>1</cp:revision>
  <dcterms:created xsi:type="dcterms:W3CDTF">2025-09-23T09:45:12Z</dcterms:created>
  <dcterms:modified xsi:type="dcterms:W3CDTF">2025-09-24T07:48:32Z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2024-09-08T00:00:00Z</vt:filetime>
  </property>
  <property fmtid="{D5CDD505-2E9C-101B-9397-08002B2CF9AE}" pid="3" name="Creator">
    <vt:lpwstr>Keynote</vt:lpwstr>
  </property>
  <property fmtid="{D5CDD505-2E9C-101B-9397-08002B2CF9AE}" pid="4" name="LastSaved">
    <vt:filetime>2025-09-23T00:00:00Z</vt:filetime>
  </property>
  <property fmtid="{D5CDD505-2E9C-101B-9397-08002B2CF9AE}" pid="5" name="Producer">
    <vt:lpwstr>macOS Version 14.6.1 (Build 23G93) Quartz PDFContext</vt:lpwstr>
  </property>
</Properties>
</file>